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9f3632312a4aaf" /><Relationship Type="http://schemas.openxmlformats.org/officeDocument/2006/relationships/extended-properties" Target="/docProps/app.xml" Id="R55afce6dc02b4180" /><Relationship Type="http://schemas.openxmlformats.org/officeDocument/2006/relationships/officeDocument" Target="/ppt/presentation.xml" Id="R0332765173864afc" /></Relationships>
</file>

<file path=ppt/presentation.xml><?xml version="1.0" encoding="utf-8"?>
<p:presentation xmlns:p="http://schemas.openxmlformats.org/presentationml/2006/main">
  <p:sldMasterIdLst>
    <p:sldMasterId xmlns:r="http://schemas.openxmlformats.org/officeDocument/2006/relationships" id="2147483648" r:id="Rda99018bb37945be"/>
  </p:sldMasterIdLst>
  <p:notesMasterIdLst>
    <p:notesMasterId xmlns:r="http://schemas.openxmlformats.org/officeDocument/2006/relationships" r:id="Rcaa2ad3eaa3a4212"/>
  </p:notesMasterIdLst>
  <p:sldIdLst>
    <p:sldId xmlns:r="http://schemas.openxmlformats.org/officeDocument/2006/relationships" id="256" r:id="R9b574410e1324d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a56b79ab5a4c65" /><Relationship Type="http://schemas.openxmlformats.org/officeDocument/2006/relationships/slideMaster" Target="/ppt/slideMasters/slideMaster1.xml" Id="Rda99018bb37945be" /><Relationship Type="http://schemas.openxmlformats.org/officeDocument/2006/relationships/notesMaster" Target="/ppt/notesMasters/notesMaster1.xml" Id="Rcaa2ad3eaa3a4212" /><Relationship Type="http://schemas.openxmlformats.org/officeDocument/2006/relationships/presProps" Target="/ppt/presProps.xml" Id="R53ab9e046fed4d89" /><Relationship Type="http://schemas.openxmlformats.org/officeDocument/2006/relationships/tableStyles" Target="/ppt/tableStyles.xml" Id="Rd6ddcf8ad0d04b34" /><Relationship Type="http://schemas.openxmlformats.org/officeDocument/2006/relationships/slide" Target="/ppt/slides/slide1.xml" Id="R9b574410e1324d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07ba49bf9344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893ec2ecd44afe" /><Relationship Type="http://schemas.openxmlformats.org/officeDocument/2006/relationships/notesMaster" Target="/ppt/notesMasters/notesMaster1.xml" Id="R733a376bd29442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Company funds a Cardano Preprod escrow with a KPI, a beneficiary, a deadline, and a pinned Airnode public key and request hash. API3 AirnodeHub signs the exact API response off-chain. The keeper includes the timestamp, numeric response fields, and signature in the release transaction. The Aiken validator reconstructs the signed bytes, computes the EIP-191 Keccak hash, verifies secp256k1 against the pinned key, checks request and validity interval, and requires the beneficiary payout. Base Sepolia test aUSD pays for some API requests only. An authentic signature does not prove the upstream metric is correct. Source: CreatorPay repository, aiken/airnode_spike/lib/airnode.ak, lib/engine.ak, validators/pay_on_proof.ak, and cardano/src/engine.ts, proof.ts.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ce3108a0cb44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fc1ee9190e49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ba2d3d685045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fc32b5bac040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5f171abd2543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87831973c84e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173922-1472-409C-B972-A621801B12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BD03F1-03E6-4CF5-9B84-BC55E8196A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398224-A747-4BE1-9010-91EE7005B5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10C6A6-789F-40F2-AD7B-E28AC49192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B8A2B0-BEB8-4D1D-A9E8-5B7AC44E8E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8D97F4-751E-481D-8CDF-766B4B5761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5537F2-3639-4A82-B8B0-1D63C32492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00DB39-B9FC-4882-A63C-2149D8D1D5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D37682-A7D3-4ADB-9095-2D51305824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C76D58-8B93-47EF-AC68-49D473ED60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d31ecf7bd44250" /><Relationship Type="http://schemas.openxmlformats.org/officeDocument/2006/relationships/slideLayout" Target="/ppt/slideLayouts/slideLayout1.xml" Id="R2242f76a1b0d41b1" /><Relationship Type="http://schemas.openxmlformats.org/officeDocument/2006/relationships/slideLayout" Target="/ppt/slideLayouts/slideLayout2.xml" Id="R2cf6fc13db5b43a4" /><Relationship Type="http://schemas.openxmlformats.org/officeDocument/2006/relationships/slideLayout" Target="/ppt/slideLayouts/slideLayout3.xml" Id="Re136f0d4c9fe486f" /><Relationship Type="http://schemas.openxmlformats.org/officeDocument/2006/relationships/slideLayout" Target="/ppt/slideLayouts/slideLayout4.xml" Id="Rb799d01479b54d06" /><Relationship Type="http://schemas.openxmlformats.org/officeDocument/2006/relationships/slideLayout" Target="/ppt/slideLayouts/slideLayout5.xml" Id="Rd04779ccb5424322" /><Relationship Type="http://schemas.openxmlformats.org/officeDocument/2006/relationships/slideLayout" Target="/ppt/slideLayouts/slideLayout6.xml" Id="Rb8295e21ac2a4a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42f76a1b0d41b1"/>
    <p:sldLayoutId xmlns:r="http://schemas.openxmlformats.org/officeDocument/2006/relationships" id="2147483650" r:id="R2cf6fc13db5b43a4"/>
    <p:sldLayoutId xmlns:r="http://schemas.openxmlformats.org/officeDocument/2006/relationships" id="2147483651" r:id="Re136f0d4c9fe486f"/>
    <p:sldLayoutId xmlns:r="http://schemas.openxmlformats.org/officeDocument/2006/relationships" id="2147483652" r:id="Rb799d01479b54d06"/>
    <p:sldLayoutId xmlns:r="http://schemas.openxmlformats.org/officeDocument/2006/relationships" id="2147483653" r:id="Rd04779ccb5424322"/>
    <p:sldLayoutId xmlns:r="http://schemas.openxmlformats.org/officeDocument/2006/relationships" id="2147483654" r:id="Rb8295e21ac2a4a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b06ba1eb2844df" /><Relationship Type="http://schemas.openxmlformats.org/officeDocument/2006/relationships/notesSlide" Target="/ppt/notesSlides/notesSlide1.xml" Id="R0316216f35e44e27" /></Relationships>
</file>

<file path=ppt/slides/slide1.xml><?xml version="1.0" encoding="utf-8"?>
<p:sld xmlns:p="http://schemas.openxmlformats.org/presentationml/2006/main">
  <p:cSld>
    <p:bg>
      <p:bgPr>
        <a:solidFill xmlns:a="http://schemas.openxmlformats.org/drawingml/2006/main">
          <a:srgbClr val="F9FBFC"/>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199EE63C-69FB-41CF-A6E0-9005E5339971}"/>
              </a:ext>
            </a:extLst>
          </p:cNvPr>
          <p:cNvCxnSpPr>
            <a:stCxn xmlns:a="http://schemas.openxmlformats.org/drawingml/2006/main" id="23" idx="0"/>
            <a:endCxn xmlns:a="http://schemas.openxmlformats.org/drawingml/2006/main" id="11" idx="2"/>
          </p:cNvCxnSpPr>
          <p:nvPr/>
        </p:nvCxnSpPr>
        <p:spPr>
          <a:xfrm xmlns:a="http://schemas.openxmlformats.org/drawingml/2006/main" flipV="1">
            <a:off x="7467600" y="3314700"/>
            <a:ext cx="0" cy="857250"/>
          </a:xfrm>
          <a:prstGeom xmlns:a="http://schemas.openxmlformats.org/drawingml/2006/main" prst="straightConnector1">
            <a:avLst/>
          </a:prstGeom>
          <a:ln xmlns:a="http://schemas.openxmlformats.org/drawingml/2006/main" w="21908">
            <a:solidFill>
              <a:srgbClr val="007F80"/>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76F78837-E330-4B60-89BD-67889BE7318C}"/>
              </a:ext>
            </a:extLst>
          </p:cNvPr>
          <p:cNvCxnSpPr>
            <a:stCxn xmlns:a="http://schemas.openxmlformats.org/drawingml/2006/main" id="20" idx="3"/>
            <a:endCxn xmlns:a="http://schemas.openxmlformats.org/drawingml/2006/main" id="23" idx="1"/>
          </p:cNvCxnSpPr>
          <p:nvPr/>
        </p:nvCxnSpPr>
        <p:spPr>
          <a:xfrm xmlns:a="http://schemas.openxmlformats.org/drawingml/2006/main">
            <a:off x="5457825" y="4772025"/>
            <a:ext cx="723900" cy="0"/>
          </a:xfrm>
          <a:prstGeom xmlns:a="http://schemas.openxmlformats.org/drawingml/2006/main" prst="straightConnector1">
            <a:avLst/>
          </a:prstGeom>
          <a:ln xmlns:a="http://schemas.openxmlformats.org/drawingml/2006/main" w="21908">
            <a:solidFill>
              <a:srgbClr val="007F80"/>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EB449FEF-E972-4185-BCA8-21D93E73CEA6}"/>
              </a:ext>
            </a:extLst>
          </p:cNvPr>
          <p:cNvCxnSpPr>
            <a:stCxn xmlns:a="http://schemas.openxmlformats.org/drawingml/2006/main" id="17" idx="3"/>
            <a:endCxn xmlns:a="http://schemas.openxmlformats.org/drawingml/2006/main" id="20" idx="1"/>
          </p:cNvCxnSpPr>
          <p:nvPr/>
        </p:nvCxnSpPr>
        <p:spPr>
          <a:xfrm xmlns:a="http://schemas.openxmlformats.org/drawingml/2006/main">
            <a:off x="2638425" y="4772025"/>
            <a:ext cx="590550" cy="0"/>
          </a:xfrm>
          <a:prstGeom xmlns:a="http://schemas.openxmlformats.org/drawingml/2006/main" prst="straightConnector1">
            <a:avLst/>
          </a:prstGeom>
          <a:ln xmlns:a="http://schemas.openxmlformats.org/drawingml/2006/main" w="21908">
            <a:solidFill>
              <a:srgbClr val="A9BBC5"/>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AE2085B5-15B6-47EF-A2B1-631BCA3CE4E3}"/>
              </a:ext>
            </a:extLst>
          </p:cNvPr>
          <p:cNvCxnSpPr>
            <a:stCxn xmlns:a="http://schemas.openxmlformats.org/drawingml/2006/main" id="11" idx="3"/>
            <a:endCxn xmlns:a="http://schemas.openxmlformats.org/drawingml/2006/main" id="14" idx="1"/>
          </p:cNvCxnSpPr>
          <p:nvPr/>
        </p:nvCxnSpPr>
        <p:spPr>
          <a:xfrm xmlns:a="http://schemas.openxmlformats.org/drawingml/2006/main">
            <a:off x="8753475" y="2714625"/>
            <a:ext cx="771525" cy="0"/>
          </a:xfrm>
          <a:prstGeom xmlns:a="http://schemas.openxmlformats.org/drawingml/2006/main" prst="straightConnector1">
            <a:avLst/>
          </a:prstGeom>
          <a:ln xmlns:a="http://schemas.openxmlformats.org/drawingml/2006/main" w="21908">
            <a:solidFill>
              <a:srgbClr val="007F80"/>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80824764-0FA6-48A8-B464-E0552260D2D0}"/>
              </a:ext>
            </a:extLst>
          </p:cNvPr>
          <p:cNvCxnSpPr>
            <a:stCxn xmlns:a="http://schemas.openxmlformats.org/drawingml/2006/main" id="8" idx="3"/>
            <a:endCxn xmlns:a="http://schemas.openxmlformats.org/drawingml/2006/main" id="11" idx="1"/>
          </p:cNvCxnSpPr>
          <p:nvPr/>
        </p:nvCxnSpPr>
        <p:spPr>
          <a:xfrm xmlns:a="http://schemas.openxmlformats.org/drawingml/2006/main">
            <a:off x="5457825" y="2714625"/>
            <a:ext cx="723900" cy="0"/>
          </a:xfrm>
          <a:prstGeom xmlns:a="http://schemas.openxmlformats.org/drawingml/2006/main" prst="straightConnector1">
            <a:avLst/>
          </a:prstGeom>
          <a:ln xmlns:a="http://schemas.openxmlformats.org/drawingml/2006/main" w="21908">
            <a:solidFill>
              <a:srgbClr val="102B3F"/>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6C8FEE81-8A56-4D31-9D13-BB614BFE3A17}"/>
              </a:ext>
            </a:extLst>
          </p:cNvPr>
          <p:cNvCxnSpPr>
            <a:stCxn xmlns:a="http://schemas.openxmlformats.org/drawingml/2006/main" id="5" idx="3"/>
            <a:endCxn xmlns:a="http://schemas.openxmlformats.org/drawingml/2006/main" id="8" idx="1"/>
          </p:cNvCxnSpPr>
          <p:nvPr/>
        </p:nvCxnSpPr>
        <p:spPr>
          <a:xfrm xmlns:a="http://schemas.openxmlformats.org/drawingml/2006/main">
            <a:off x="2638425" y="2714625"/>
            <a:ext cx="590550" cy="0"/>
          </a:xfrm>
          <a:prstGeom xmlns:a="http://schemas.openxmlformats.org/drawingml/2006/main" prst="straightConnector1">
            <a:avLst/>
          </a:prstGeom>
          <a:ln xmlns:a="http://schemas.openxmlformats.org/drawingml/2006/main" w="21908">
            <a:solidFill>
              <a:srgbClr val="A9BBC5"/>
            </a:solidFill>
            <a:prstDash val="solid"/>
            <a:tailEnd type="triangle" w="sm" len="sm"/>
          </a:ln>
        </p:spPr>
      </p:cxnSp>
      <p:sp>
        <p:nvSpPr>
          <p:cNvPr id="33" name="title">
            <a:extLst xmlns:a="http://schemas.openxmlformats.org/drawingml/2006/main">
              <a:ext uri="{FF2B5EF4-FFF2-40B4-BE49-F238E27FC236}">
                <a16:creationId xmlns:a16="http://schemas.microsoft.com/office/drawing/2014/main" id="{E6222697-CA75-454F-90C7-791A030FB09B}"/>
              </a:ext>
            </a:extLst>
          </p:cNvPr>
          <p:cNvSpPr>
            <a:spLocks xmlns:a="http://schemas.openxmlformats.org/drawingml/2006/main" noGrp="1"/>
          </p:cNvSpPr>
          <p:nvPr/>
        </p:nvSpPr>
        <p:spPr>
          <a:xfrm xmlns:a="http://schemas.openxmlformats.org/drawingml/2006/main">
            <a:off x="685800" y="4953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000" b="1">
                <a:solidFill>
                  <a:srgbClr val="102B3F"/>
                </a:solidFill>
                <a:latin typeface="DejaVu Sans"/>
                <a:ea typeface="DejaVu Sans"/>
                <a:cs typeface="DejaVu Sans"/>
              </a:defRPr>
            </a:defPPr>
            <a:lvl1pPr algn="l">
              <a:defRPr sz="3000" b="1">
                <a:solidFill>
                  <a:srgbClr val="102B3F"/>
                </a:solidFill>
                <a:latin typeface="DejaVu Sans"/>
                <a:ea typeface="DejaVu Sans"/>
                <a:cs typeface="DejaVu Sans"/>
              </a:defRPr>
            </a:lvl1pPr>
            <a:lvl2pPr algn="l">
              <a:defRPr sz="3000" b="1">
                <a:solidFill>
                  <a:srgbClr val="102B3F"/>
                </a:solidFill>
                <a:latin typeface="DejaVu Sans"/>
                <a:ea typeface="DejaVu Sans"/>
                <a:cs typeface="DejaVu Sans"/>
              </a:defRPr>
            </a:lvl2pPr>
            <a:lvl3pPr algn="l">
              <a:defRPr sz="3000" b="1">
                <a:solidFill>
                  <a:srgbClr val="102B3F"/>
                </a:solidFill>
                <a:latin typeface="DejaVu Sans"/>
                <a:ea typeface="DejaVu Sans"/>
                <a:cs typeface="DejaVu Sans"/>
              </a:defRPr>
            </a:lvl3pPr>
            <a:lvl4pPr algn="l">
              <a:defRPr sz="3000" b="1">
                <a:solidFill>
                  <a:srgbClr val="102B3F"/>
                </a:solidFill>
                <a:latin typeface="DejaVu Sans"/>
                <a:ea typeface="DejaVu Sans"/>
                <a:cs typeface="DejaVu Sans"/>
              </a:defRPr>
            </a:lvl4pPr>
            <a:lvl5pPr algn="l">
              <a:defRPr sz="3000" b="1">
                <a:solidFill>
                  <a:srgbClr val="102B3F"/>
                </a:solidFill>
                <a:latin typeface="DejaVu Sans"/>
                <a:ea typeface="DejaVu Sans"/>
                <a:cs typeface="DejaVu Sans"/>
              </a:defRPr>
            </a:lvl5pPr>
            <a:lvl6pPr algn="l">
              <a:defRPr sz="3000" b="1">
                <a:solidFill>
                  <a:srgbClr val="102B3F"/>
                </a:solidFill>
                <a:latin typeface="DejaVu Sans"/>
                <a:ea typeface="DejaVu Sans"/>
                <a:cs typeface="DejaVu Sans"/>
              </a:defRPr>
            </a:lvl6pPr>
            <a:lvl7pPr algn="l">
              <a:defRPr sz="3000" b="1">
                <a:solidFill>
                  <a:srgbClr val="102B3F"/>
                </a:solidFill>
                <a:latin typeface="DejaVu Sans"/>
                <a:ea typeface="DejaVu Sans"/>
                <a:cs typeface="DejaVu Sans"/>
              </a:defRPr>
            </a:lvl7pPr>
            <a:lvl8pPr algn="l">
              <a:defRPr sz="3000" b="1">
                <a:solidFill>
                  <a:srgbClr val="102B3F"/>
                </a:solidFill>
                <a:latin typeface="DejaVu Sans"/>
                <a:ea typeface="DejaVu Sans"/>
                <a:cs typeface="DejaVu Sans"/>
              </a:defRPr>
            </a:lvl8pPr>
            <a:lvl9pPr algn="l">
              <a:defRPr sz="3000" b="1">
                <a:solidFill>
                  <a:srgbClr val="102B3F"/>
                </a:solidFill>
                <a:latin typeface="DejaVu Sans"/>
                <a:ea typeface="DejaVu Sans"/>
                <a:cs typeface="DejaVu Sans"/>
              </a:defRPr>
            </a:lvl9pPr>
          </a:lstStyle>
          <a:p xmlns:a="http://schemas.openxmlformats.org/drawingml/2006/main">
            <a:pPr algn="l">
              <a:defRPr sz="3000" b="1">
                <a:solidFill>
                  <a:srgbClr val="102B3F"/>
                </a:solidFill>
                <a:latin typeface="DejaVu Sans"/>
                <a:ea typeface="DejaVu Sans"/>
                <a:cs typeface="DejaVu Sans"/>
              </a:defRPr>
            </a:pPr>
            <a:r>
              <a:rPr sz="3000" b="1">
                <a:solidFill>
                  <a:srgbClr val="102B3F"/>
                </a:solidFill>
                <a:latin typeface="DejaVu Sans"/>
                <a:ea typeface="DejaVu Sans"/>
                <a:cs typeface="DejaVu Sans"/>
              </a:rPr>
              <a:t>CreatorPay: signed data to Cardano payout</a:t>
            </a:r>
          </a:p>
        </p:txBody>
      </p:sp>
      <p:sp>
        <p:nvSpPr>
          <p:cNvPr id="2" name="subtitle">
            <a:extLst xmlns:a="http://schemas.openxmlformats.org/drawingml/2006/main">
              <a:ext uri="{FF2B5EF4-FFF2-40B4-BE49-F238E27FC236}">
                <a16:creationId xmlns:a16="http://schemas.microsoft.com/office/drawing/2014/main" id="{A23B0EB9-AAC3-480A-8A43-CE46A4474003}"/>
              </a:ext>
            </a:extLst>
          </p:cNvPr>
          <p:cNvSpPr>
            <a:spLocks xmlns:a="http://schemas.openxmlformats.org/drawingml/2006/main" noGrp="1"/>
          </p:cNvSpPr>
          <p:nvPr/>
        </p:nvSpPr>
        <p:spPr>
          <a:xfrm xmlns:a="http://schemas.openxmlformats.org/drawingml/2006/main">
            <a:off x="685800" y="10953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16979"/>
                </a:solidFill>
                <a:latin typeface="DejaVu Sans"/>
                <a:ea typeface="DejaVu Sans"/>
                <a:cs typeface="DejaVu Sans"/>
              </a:defRPr>
            </a:defPPr>
            <a:lvl1pPr algn="l">
              <a:defRPr sz="1500" b="0">
                <a:solidFill>
                  <a:srgbClr val="516979"/>
                </a:solidFill>
                <a:latin typeface="DejaVu Sans"/>
                <a:ea typeface="DejaVu Sans"/>
                <a:cs typeface="DejaVu Sans"/>
              </a:defRPr>
            </a:lvl1pPr>
            <a:lvl2pPr algn="l">
              <a:defRPr sz="1500" b="0">
                <a:solidFill>
                  <a:srgbClr val="516979"/>
                </a:solidFill>
                <a:latin typeface="DejaVu Sans"/>
                <a:ea typeface="DejaVu Sans"/>
                <a:cs typeface="DejaVu Sans"/>
              </a:defRPr>
            </a:lvl2pPr>
            <a:lvl3pPr algn="l">
              <a:defRPr sz="1500" b="0">
                <a:solidFill>
                  <a:srgbClr val="516979"/>
                </a:solidFill>
                <a:latin typeface="DejaVu Sans"/>
                <a:ea typeface="DejaVu Sans"/>
                <a:cs typeface="DejaVu Sans"/>
              </a:defRPr>
            </a:lvl3pPr>
            <a:lvl4pPr algn="l">
              <a:defRPr sz="1500" b="0">
                <a:solidFill>
                  <a:srgbClr val="516979"/>
                </a:solidFill>
                <a:latin typeface="DejaVu Sans"/>
                <a:ea typeface="DejaVu Sans"/>
                <a:cs typeface="DejaVu Sans"/>
              </a:defRPr>
            </a:lvl4pPr>
            <a:lvl5pPr algn="l">
              <a:defRPr sz="1500" b="0">
                <a:solidFill>
                  <a:srgbClr val="516979"/>
                </a:solidFill>
                <a:latin typeface="DejaVu Sans"/>
                <a:ea typeface="DejaVu Sans"/>
                <a:cs typeface="DejaVu Sans"/>
              </a:defRPr>
            </a:lvl5pPr>
            <a:lvl6pPr algn="l">
              <a:defRPr sz="1500" b="0">
                <a:solidFill>
                  <a:srgbClr val="516979"/>
                </a:solidFill>
                <a:latin typeface="DejaVu Sans"/>
                <a:ea typeface="DejaVu Sans"/>
                <a:cs typeface="DejaVu Sans"/>
              </a:defRPr>
            </a:lvl6pPr>
            <a:lvl7pPr algn="l">
              <a:defRPr sz="1500" b="0">
                <a:solidFill>
                  <a:srgbClr val="516979"/>
                </a:solidFill>
                <a:latin typeface="DejaVu Sans"/>
                <a:ea typeface="DejaVu Sans"/>
                <a:cs typeface="DejaVu Sans"/>
              </a:defRPr>
            </a:lvl7pPr>
            <a:lvl8pPr algn="l">
              <a:defRPr sz="1500" b="0">
                <a:solidFill>
                  <a:srgbClr val="516979"/>
                </a:solidFill>
                <a:latin typeface="DejaVu Sans"/>
                <a:ea typeface="DejaVu Sans"/>
                <a:cs typeface="DejaVu Sans"/>
              </a:defRPr>
            </a:lvl8pPr>
            <a:lvl9pPr algn="l">
              <a:defRPr sz="1500" b="0">
                <a:solidFill>
                  <a:srgbClr val="516979"/>
                </a:solidFill>
                <a:latin typeface="DejaVu Sans"/>
                <a:ea typeface="DejaVu Sans"/>
                <a:cs typeface="DejaVu Sans"/>
              </a:defRPr>
            </a:lvl9pPr>
          </a:lstStyle>
          <a:p xmlns:a="http://schemas.openxmlformats.org/drawingml/2006/main">
            <a:pPr algn="l">
              <a:defRPr sz="1500" b="0">
                <a:solidFill>
                  <a:srgbClr val="516979"/>
                </a:solidFill>
                <a:latin typeface="DejaVu Sans"/>
                <a:ea typeface="DejaVu Sans"/>
                <a:cs typeface="DejaVu Sans"/>
              </a:defRPr>
            </a:pPr>
            <a:r>
              <a:rPr sz="1500" b="0">
                <a:solidFill>
                  <a:srgbClr val="516979"/>
                </a:solidFill>
                <a:latin typeface="DejaVu Sans"/>
                <a:ea typeface="DejaVu Sans"/>
                <a:cs typeface="DejaVu Sans"/>
              </a:rPr>
              <a:t>The Aiken contract verifies the Airnode signature before releasing escrow funds</a:t>
            </a:r>
          </a:p>
        </p:txBody>
      </p:sp>
      <p:sp>
        <p:nvSpPr>
          <p:cNvPr id="3" name="chain-lane">
            <a:extLst xmlns:a="http://schemas.openxmlformats.org/drawingml/2006/main">
              <a:ext uri="{FF2B5EF4-FFF2-40B4-BE49-F238E27FC236}">
                <a16:creationId xmlns:a16="http://schemas.microsoft.com/office/drawing/2014/main" id="{3EA06BDC-2FAC-4118-B5D7-5B0E927EB5FC}"/>
              </a:ext>
            </a:extLst>
          </p:cNvPr>
          <p:cNvSpPr>
            <a:spLocks xmlns:a="http://schemas.openxmlformats.org/drawingml/2006/main" noGrp="1"/>
          </p:cNvSpPr>
          <p:nvPr/>
        </p:nvSpPr>
        <p:spPr>
          <a:xfrm xmlns:a="http://schemas.openxmlformats.org/drawingml/2006/main">
            <a:off x="685800" y="17526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007F80"/>
                </a:solidFill>
                <a:latin typeface="DejaVu Sans"/>
                <a:ea typeface="DejaVu Sans"/>
                <a:cs typeface="DejaVu Sans"/>
              </a:defRPr>
            </a:defPPr>
            <a:lvl1pPr algn="l">
              <a:defRPr sz="1125" b="1">
                <a:solidFill>
                  <a:srgbClr val="007F80"/>
                </a:solidFill>
                <a:latin typeface="DejaVu Sans"/>
                <a:ea typeface="DejaVu Sans"/>
                <a:cs typeface="DejaVu Sans"/>
              </a:defRPr>
            </a:lvl1pPr>
            <a:lvl2pPr algn="l">
              <a:defRPr sz="1125" b="1">
                <a:solidFill>
                  <a:srgbClr val="007F80"/>
                </a:solidFill>
                <a:latin typeface="DejaVu Sans"/>
                <a:ea typeface="DejaVu Sans"/>
                <a:cs typeface="DejaVu Sans"/>
              </a:defRPr>
            </a:lvl2pPr>
            <a:lvl3pPr algn="l">
              <a:defRPr sz="1125" b="1">
                <a:solidFill>
                  <a:srgbClr val="007F80"/>
                </a:solidFill>
                <a:latin typeface="DejaVu Sans"/>
                <a:ea typeface="DejaVu Sans"/>
                <a:cs typeface="DejaVu Sans"/>
              </a:defRPr>
            </a:lvl3pPr>
            <a:lvl4pPr algn="l">
              <a:defRPr sz="1125" b="1">
                <a:solidFill>
                  <a:srgbClr val="007F80"/>
                </a:solidFill>
                <a:latin typeface="DejaVu Sans"/>
                <a:ea typeface="DejaVu Sans"/>
                <a:cs typeface="DejaVu Sans"/>
              </a:defRPr>
            </a:lvl4pPr>
            <a:lvl5pPr algn="l">
              <a:defRPr sz="1125" b="1">
                <a:solidFill>
                  <a:srgbClr val="007F80"/>
                </a:solidFill>
                <a:latin typeface="DejaVu Sans"/>
                <a:ea typeface="DejaVu Sans"/>
                <a:cs typeface="DejaVu Sans"/>
              </a:defRPr>
            </a:lvl5pPr>
            <a:lvl6pPr algn="l">
              <a:defRPr sz="1125" b="1">
                <a:solidFill>
                  <a:srgbClr val="007F80"/>
                </a:solidFill>
                <a:latin typeface="DejaVu Sans"/>
                <a:ea typeface="DejaVu Sans"/>
                <a:cs typeface="DejaVu Sans"/>
              </a:defRPr>
            </a:lvl6pPr>
            <a:lvl7pPr algn="l">
              <a:defRPr sz="1125" b="1">
                <a:solidFill>
                  <a:srgbClr val="007F80"/>
                </a:solidFill>
                <a:latin typeface="DejaVu Sans"/>
                <a:ea typeface="DejaVu Sans"/>
                <a:cs typeface="DejaVu Sans"/>
              </a:defRPr>
            </a:lvl7pPr>
            <a:lvl8pPr algn="l">
              <a:defRPr sz="1125" b="1">
                <a:solidFill>
                  <a:srgbClr val="007F80"/>
                </a:solidFill>
                <a:latin typeface="DejaVu Sans"/>
                <a:ea typeface="DejaVu Sans"/>
                <a:cs typeface="DejaVu Sans"/>
              </a:defRPr>
            </a:lvl8pPr>
            <a:lvl9pPr algn="l">
              <a:defRPr sz="1125" b="1">
                <a:solidFill>
                  <a:srgbClr val="007F80"/>
                </a:solidFill>
                <a:latin typeface="DejaVu Sans"/>
                <a:ea typeface="DejaVu Sans"/>
                <a:cs typeface="DejaVu Sans"/>
              </a:defRPr>
            </a:lvl9pPr>
          </a:lstStyle>
          <a:p xmlns:a="http://schemas.openxmlformats.org/drawingml/2006/main">
            <a:pPr algn="l">
              <a:defRPr sz="1125" b="1">
                <a:solidFill>
                  <a:srgbClr val="007F80"/>
                </a:solidFill>
                <a:latin typeface="DejaVu Sans"/>
                <a:ea typeface="DejaVu Sans"/>
                <a:cs typeface="DejaVu Sans"/>
              </a:defRPr>
            </a:pPr>
            <a:r>
              <a:rPr sz="1125" b="1">
                <a:solidFill>
                  <a:srgbClr val="007F80"/>
                </a:solidFill>
                <a:latin typeface="DejaVu Sans"/>
                <a:ea typeface="DejaVu Sans"/>
                <a:cs typeface="DejaVu Sans"/>
              </a:rPr>
              <a:t>CARDANO PREPROD</a:t>
            </a:r>
          </a:p>
        </p:txBody>
      </p:sp>
      <p:sp>
        <p:nvSpPr>
          <p:cNvPr id="4" name="source-lane">
            <a:extLst xmlns:a="http://schemas.openxmlformats.org/drawingml/2006/main">
              <a:ext uri="{FF2B5EF4-FFF2-40B4-BE49-F238E27FC236}">
                <a16:creationId xmlns:a16="http://schemas.microsoft.com/office/drawing/2014/main" id="{151DA013-A8A5-49E5-98F3-E15F140D4795}"/>
              </a:ext>
            </a:extLst>
          </p:cNvPr>
          <p:cNvSpPr>
            <a:spLocks xmlns:a="http://schemas.openxmlformats.org/drawingml/2006/main" noGrp="1"/>
          </p:cNvSpPr>
          <p:nvPr/>
        </p:nvSpPr>
        <p:spPr>
          <a:xfrm xmlns:a="http://schemas.openxmlformats.org/drawingml/2006/main">
            <a:off x="685800" y="37433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007F80"/>
                </a:solidFill>
                <a:latin typeface="DejaVu Sans"/>
                <a:ea typeface="DejaVu Sans"/>
                <a:cs typeface="DejaVu Sans"/>
              </a:defRPr>
            </a:defPPr>
            <a:lvl1pPr algn="l">
              <a:defRPr sz="1125" b="1">
                <a:solidFill>
                  <a:srgbClr val="007F80"/>
                </a:solidFill>
                <a:latin typeface="DejaVu Sans"/>
                <a:ea typeface="DejaVu Sans"/>
                <a:cs typeface="DejaVu Sans"/>
              </a:defRPr>
            </a:lvl1pPr>
            <a:lvl2pPr algn="l">
              <a:defRPr sz="1125" b="1">
                <a:solidFill>
                  <a:srgbClr val="007F80"/>
                </a:solidFill>
                <a:latin typeface="DejaVu Sans"/>
                <a:ea typeface="DejaVu Sans"/>
                <a:cs typeface="DejaVu Sans"/>
              </a:defRPr>
            </a:lvl2pPr>
            <a:lvl3pPr algn="l">
              <a:defRPr sz="1125" b="1">
                <a:solidFill>
                  <a:srgbClr val="007F80"/>
                </a:solidFill>
                <a:latin typeface="DejaVu Sans"/>
                <a:ea typeface="DejaVu Sans"/>
                <a:cs typeface="DejaVu Sans"/>
              </a:defRPr>
            </a:lvl3pPr>
            <a:lvl4pPr algn="l">
              <a:defRPr sz="1125" b="1">
                <a:solidFill>
                  <a:srgbClr val="007F80"/>
                </a:solidFill>
                <a:latin typeface="DejaVu Sans"/>
                <a:ea typeface="DejaVu Sans"/>
                <a:cs typeface="DejaVu Sans"/>
              </a:defRPr>
            </a:lvl4pPr>
            <a:lvl5pPr algn="l">
              <a:defRPr sz="1125" b="1">
                <a:solidFill>
                  <a:srgbClr val="007F80"/>
                </a:solidFill>
                <a:latin typeface="DejaVu Sans"/>
                <a:ea typeface="DejaVu Sans"/>
                <a:cs typeface="DejaVu Sans"/>
              </a:defRPr>
            </a:lvl5pPr>
            <a:lvl6pPr algn="l">
              <a:defRPr sz="1125" b="1">
                <a:solidFill>
                  <a:srgbClr val="007F80"/>
                </a:solidFill>
                <a:latin typeface="DejaVu Sans"/>
                <a:ea typeface="DejaVu Sans"/>
                <a:cs typeface="DejaVu Sans"/>
              </a:defRPr>
            </a:lvl6pPr>
            <a:lvl7pPr algn="l">
              <a:defRPr sz="1125" b="1">
                <a:solidFill>
                  <a:srgbClr val="007F80"/>
                </a:solidFill>
                <a:latin typeface="DejaVu Sans"/>
                <a:ea typeface="DejaVu Sans"/>
                <a:cs typeface="DejaVu Sans"/>
              </a:defRPr>
            </a:lvl7pPr>
            <a:lvl8pPr algn="l">
              <a:defRPr sz="1125" b="1">
                <a:solidFill>
                  <a:srgbClr val="007F80"/>
                </a:solidFill>
                <a:latin typeface="DejaVu Sans"/>
                <a:ea typeface="DejaVu Sans"/>
                <a:cs typeface="DejaVu Sans"/>
              </a:defRPr>
            </a:lvl8pPr>
            <a:lvl9pPr algn="l">
              <a:defRPr sz="1125" b="1">
                <a:solidFill>
                  <a:srgbClr val="007F80"/>
                </a:solidFill>
                <a:latin typeface="DejaVu Sans"/>
                <a:ea typeface="DejaVu Sans"/>
                <a:cs typeface="DejaVu Sans"/>
              </a:defRPr>
            </a:lvl9pPr>
          </a:lstStyle>
          <a:p xmlns:a="http://schemas.openxmlformats.org/drawingml/2006/main">
            <a:pPr algn="l">
              <a:defRPr sz="1125" b="1">
                <a:solidFill>
                  <a:srgbClr val="007F80"/>
                </a:solidFill>
                <a:latin typeface="DejaVu Sans"/>
                <a:ea typeface="DejaVu Sans"/>
                <a:cs typeface="DejaVu Sans"/>
              </a:defRPr>
            </a:pPr>
            <a:r>
              <a:rPr sz="1125" b="1">
                <a:solidFill>
                  <a:srgbClr val="007F80"/>
                </a:solidFill>
                <a:latin typeface="DejaVu Sans"/>
                <a:ea typeface="DejaVu Sans"/>
                <a:cs typeface="DejaVu Sans"/>
              </a:rPr>
              <a:t>OFF-CHAIN DATA</a:t>
            </a:r>
          </a:p>
        </p:txBody>
      </p:sp>
      <p:sp>
        <p:nvSpPr>
          <p:cNvPr id="5" name="company">
            <a:extLst xmlns:a="http://schemas.openxmlformats.org/drawingml/2006/main">
              <a:ext uri="{FF2B5EF4-FFF2-40B4-BE49-F238E27FC236}">
                <a16:creationId xmlns:a16="http://schemas.microsoft.com/office/drawing/2014/main" id="{37482FB5-4CAD-4DD2-94F0-D737CAE8A370}"/>
              </a:ext>
            </a:extLst>
          </p:cNvPr>
          <p:cNvSpPr>
            <a:spLocks xmlns:a="http://schemas.openxmlformats.org/drawingml/2006/main" noGrp="1"/>
          </p:cNvSpPr>
          <p:nvPr/>
        </p:nvSpPr>
        <p:spPr>
          <a:xfrm xmlns:a="http://schemas.openxmlformats.org/drawingml/2006/main">
            <a:off x="685800" y="2114550"/>
            <a:ext cx="1952625"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A9BBC5"/>
            </a:solidFill>
            <a:prstDash val="solid"/>
          </a:ln>
        </p:spPr>
      </p:sp>
      <p:sp>
        <p:nvSpPr>
          <p:cNvPr id="6" name="company-heading">
            <a:extLst xmlns:a="http://schemas.openxmlformats.org/drawingml/2006/main">
              <a:ext uri="{FF2B5EF4-FFF2-40B4-BE49-F238E27FC236}">
                <a16:creationId xmlns:a16="http://schemas.microsoft.com/office/drawing/2014/main" id="{34D1E4F0-D730-48A6-9CC9-A78D89A32A7C}"/>
              </a:ext>
            </a:extLst>
          </p:cNvPr>
          <p:cNvSpPr>
            <a:spLocks xmlns:a="http://schemas.openxmlformats.org/drawingml/2006/main" noGrp="1"/>
          </p:cNvSpPr>
          <p:nvPr/>
        </p:nvSpPr>
        <p:spPr>
          <a:xfrm xmlns:a="http://schemas.openxmlformats.org/drawingml/2006/main">
            <a:off x="857250" y="228600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B3F"/>
                </a:solidFill>
                <a:latin typeface="DejaVu Sans"/>
                <a:ea typeface="DejaVu Sans"/>
                <a:cs typeface="DejaVu Sans"/>
              </a:defRPr>
            </a:defPPr>
            <a:lvl1pPr algn="l">
              <a:defRPr sz="1650" b="1">
                <a:solidFill>
                  <a:srgbClr val="102B3F"/>
                </a:solidFill>
                <a:latin typeface="DejaVu Sans"/>
                <a:ea typeface="DejaVu Sans"/>
                <a:cs typeface="DejaVu Sans"/>
              </a:defRPr>
            </a:lvl1pPr>
            <a:lvl2pPr algn="l">
              <a:defRPr sz="1650" b="1">
                <a:solidFill>
                  <a:srgbClr val="102B3F"/>
                </a:solidFill>
                <a:latin typeface="DejaVu Sans"/>
                <a:ea typeface="DejaVu Sans"/>
                <a:cs typeface="DejaVu Sans"/>
              </a:defRPr>
            </a:lvl2pPr>
            <a:lvl3pPr algn="l">
              <a:defRPr sz="1650" b="1">
                <a:solidFill>
                  <a:srgbClr val="102B3F"/>
                </a:solidFill>
                <a:latin typeface="DejaVu Sans"/>
                <a:ea typeface="DejaVu Sans"/>
                <a:cs typeface="DejaVu Sans"/>
              </a:defRPr>
            </a:lvl3pPr>
            <a:lvl4pPr algn="l">
              <a:defRPr sz="1650" b="1">
                <a:solidFill>
                  <a:srgbClr val="102B3F"/>
                </a:solidFill>
                <a:latin typeface="DejaVu Sans"/>
                <a:ea typeface="DejaVu Sans"/>
                <a:cs typeface="DejaVu Sans"/>
              </a:defRPr>
            </a:lvl4pPr>
            <a:lvl5pPr algn="l">
              <a:defRPr sz="1650" b="1">
                <a:solidFill>
                  <a:srgbClr val="102B3F"/>
                </a:solidFill>
                <a:latin typeface="DejaVu Sans"/>
                <a:ea typeface="DejaVu Sans"/>
                <a:cs typeface="DejaVu Sans"/>
              </a:defRPr>
            </a:lvl5pPr>
            <a:lvl6pPr algn="l">
              <a:defRPr sz="1650" b="1">
                <a:solidFill>
                  <a:srgbClr val="102B3F"/>
                </a:solidFill>
                <a:latin typeface="DejaVu Sans"/>
                <a:ea typeface="DejaVu Sans"/>
                <a:cs typeface="DejaVu Sans"/>
              </a:defRPr>
            </a:lvl6pPr>
            <a:lvl7pPr algn="l">
              <a:defRPr sz="1650" b="1">
                <a:solidFill>
                  <a:srgbClr val="102B3F"/>
                </a:solidFill>
                <a:latin typeface="DejaVu Sans"/>
                <a:ea typeface="DejaVu Sans"/>
                <a:cs typeface="DejaVu Sans"/>
              </a:defRPr>
            </a:lvl7pPr>
            <a:lvl8pPr algn="l">
              <a:defRPr sz="1650" b="1">
                <a:solidFill>
                  <a:srgbClr val="102B3F"/>
                </a:solidFill>
                <a:latin typeface="DejaVu Sans"/>
                <a:ea typeface="DejaVu Sans"/>
                <a:cs typeface="DejaVu Sans"/>
              </a:defRPr>
            </a:lvl8pPr>
            <a:lvl9pPr algn="l">
              <a:defRPr sz="1650" b="1">
                <a:solidFill>
                  <a:srgbClr val="102B3F"/>
                </a:solidFill>
                <a:latin typeface="DejaVu Sans"/>
                <a:ea typeface="DejaVu Sans"/>
                <a:cs typeface="DejaVu Sans"/>
              </a:defRPr>
            </a:lvl9pPr>
          </a:lstStyle>
          <a:p xmlns:a="http://schemas.openxmlformats.org/drawingml/2006/main">
            <a:pPr algn="l">
              <a:defRPr sz="1650" b="1">
                <a:solidFill>
                  <a:srgbClr val="102B3F"/>
                </a:solidFill>
                <a:latin typeface="DejaVu Sans"/>
                <a:ea typeface="DejaVu Sans"/>
                <a:cs typeface="DejaVu Sans"/>
              </a:defRPr>
            </a:pPr>
            <a:r>
              <a:rPr sz="1650" b="1">
                <a:solidFill>
                  <a:srgbClr val="102B3F"/>
                </a:solidFill>
                <a:latin typeface="DejaVu Sans"/>
                <a:ea typeface="DejaVu Sans"/>
                <a:cs typeface="DejaVu Sans"/>
              </a:rPr>
              <a:t>Company</a:t>
            </a:r>
          </a:p>
        </p:txBody>
      </p:sp>
      <p:sp>
        <p:nvSpPr>
          <p:cNvPr id="7" name="company-detail">
            <a:extLst xmlns:a="http://schemas.openxmlformats.org/drawingml/2006/main">
              <a:ext uri="{FF2B5EF4-FFF2-40B4-BE49-F238E27FC236}">
                <a16:creationId xmlns:a16="http://schemas.microsoft.com/office/drawing/2014/main" id="{CAD8997E-08C7-4B8F-AFF4-0378C2AF7A51}"/>
              </a:ext>
            </a:extLst>
          </p:cNvPr>
          <p:cNvSpPr>
            <a:spLocks xmlns:a="http://schemas.openxmlformats.org/drawingml/2006/main" noGrp="1"/>
          </p:cNvSpPr>
          <p:nvPr/>
        </p:nvSpPr>
        <p:spPr>
          <a:xfrm xmlns:a="http://schemas.openxmlformats.org/drawingml/2006/main">
            <a:off x="857250" y="2638425"/>
            <a:ext cx="16097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16979"/>
                </a:solidFill>
                <a:latin typeface="DejaVu Sans"/>
                <a:ea typeface="DejaVu Sans"/>
                <a:cs typeface="DejaVu Sans"/>
              </a:defRPr>
            </a:defPPr>
            <a:lvl1pPr algn="l">
              <a:defRPr sz="1200" b="0">
                <a:solidFill>
                  <a:srgbClr val="516979"/>
                </a:solidFill>
                <a:latin typeface="DejaVu Sans"/>
                <a:ea typeface="DejaVu Sans"/>
                <a:cs typeface="DejaVu Sans"/>
              </a:defRPr>
            </a:lvl1pPr>
            <a:lvl2pPr algn="l">
              <a:defRPr sz="1200" b="0">
                <a:solidFill>
                  <a:srgbClr val="516979"/>
                </a:solidFill>
                <a:latin typeface="DejaVu Sans"/>
                <a:ea typeface="DejaVu Sans"/>
                <a:cs typeface="DejaVu Sans"/>
              </a:defRPr>
            </a:lvl2pPr>
            <a:lvl3pPr algn="l">
              <a:defRPr sz="1200" b="0">
                <a:solidFill>
                  <a:srgbClr val="516979"/>
                </a:solidFill>
                <a:latin typeface="DejaVu Sans"/>
                <a:ea typeface="DejaVu Sans"/>
                <a:cs typeface="DejaVu Sans"/>
              </a:defRPr>
            </a:lvl3pPr>
            <a:lvl4pPr algn="l">
              <a:defRPr sz="1200" b="0">
                <a:solidFill>
                  <a:srgbClr val="516979"/>
                </a:solidFill>
                <a:latin typeface="DejaVu Sans"/>
                <a:ea typeface="DejaVu Sans"/>
                <a:cs typeface="DejaVu Sans"/>
              </a:defRPr>
            </a:lvl4pPr>
            <a:lvl5pPr algn="l">
              <a:defRPr sz="1200" b="0">
                <a:solidFill>
                  <a:srgbClr val="516979"/>
                </a:solidFill>
                <a:latin typeface="DejaVu Sans"/>
                <a:ea typeface="DejaVu Sans"/>
                <a:cs typeface="DejaVu Sans"/>
              </a:defRPr>
            </a:lvl5pPr>
            <a:lvl6pPr algn="l">
              <a:defRPr sz="1200" b="0">
                <a:solidFill>
                  <a:srgbClr val="516979"/>
                </a:solidFill>
                <a:latin typeface="DejaVu Sans"/>
                <a:ea typeface="DejaVu Sans"/>
                <a:cs typeface="DejaVu Sans"/>
              </a:defRPr>
            </a:lvl6pPr>
            <a:lvl7pPr algn="l">
              <a:defRPr sz="1200" b="0">
                <a:solidFill>
                  <a:srgbClr val="516979"/>
                </a:solidFill>
                <a:latin typeface="DejaVu Sans"/>
                <a:ea typeface="DejaVu Sans"/>
                <a:cs typeface="DejaVu Sans"/>
              </a:defRPr>
            </a:lvl7pPr>
            <a:lvl8pPr algn="l">
              <a:defRPr sz="1200" b="0">
                <a:solidFill>
                  <a:srgbClr val="516979"/>
                </a:solidFill>
                <a:latin typeface="DejaVu Sans"/>
                <a:ea typeface="DejaVu Sans"/>
                <a:cs typeface="DejaVu Sans"/>
              </a:defRPr>
            </a:lvl8pPr>
            <a:lvl9pPr algn="l">
              <a:defRPr sz="1200" b="0">
                <a:solidFill>
                  <a:srgbClr val="516979"/>
                </a:solidFill>
                <a:latin typeface="DejaVu Sans"/>
                <a:ea typeface="DejaVu Sans"/>
                <a:cs typeface="DejaVu Sans"/>
              </a:defRPr>
            </a:lvl9pPr>
          </a:lstStyle>
          <a:p xmlns:a="http://schemas.openxmlformats.org/drawingml/2006/main">
            <a:pPr algn="l">
              <a:defRPr sz="1200" b="0">
                <a:solidFill>
                  <a:srgbClr val="516979"/>
                </a:solidFill>
                <a:latin typeface="DejaVu Sans"/>
                <a:ea typeface="DejaVu Sans"/>
                <a:cs typeface="DejaVu Sans"/>
              </a:defRPr>
            </a:pPr>
            <a:r>
              <a:rPr sz="1200" b="0">
                <a:solidFill>
                  <a:srgbClr val="516979"/>
                </a:solidFill>
                <a:latin typeface="DejaVu Sans"/>
                <a:ea typeface="DejaVu Sans"/>
                <a:cs typeface="DejaVu Sans"/>
              </a:rPr>
              <a:t>Locks 5 test ADA and sets the KPI</a:t>
            </a:r>
          </a:p>
        </p:txBody>
      </p:sp>
      <p:sp>
        <p:nvSpPr>
          <p:cNvPr id="8" name="escrow">
            <a:extLst xmlns:a="http://schemas.openxmlformats.org/drawingml/2006/main">
              <a:ext uri="{FF2B5EF4-FFF2-40B4-BE49-F238E27FC236}">
                <a16:creationId xmlns:a16="http://schemas.microsoft.com/office/drawing/2014/main" id="{4898E655-A336-48B5-8262-5CB669A95409}"/>
              </a:ext>
            </a:extLst>
          </p:cNvPr>
          <p:cNvSpPr>
            <a:spLocks xmlns:a="http://schemas.openxmlformats.org/drawingml/2006/main" noGrp="1"/>
          </p:cNvSpPr>
          <p:nvPr/>
        </p:nvSpPr>
        <p:spPr>
          <a:xfrm xmlns:a="http://schemas.openxmlformats.org/drawingml/2006/main">
            <a:off x="3228975" y="2114550"/>
            <a:ext cx="22288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A9BBC5"/>
            </a:solidFill>
            <a:prstDash val="solid"/>
          </a:ln>
        </p:spPr>
      </p:sp>
      <p:sp>
        <p:nvSpPr>
          <p:cNvPr id="9" name="escrow-heading">
            <a:extLst xmlns:a="http://schemas.openxmlformats.org/drawingml/2006/main">
              <a:ext uri="{FF2B5EF4-FFF2-40B4-BE49-F238E27FC236}">
                <a16:creationId xmlns:a16="http://schemas.microsoft.com/office/drawing/2014/main" id="{87D7994E-9E5C-4719-9015-4BEEF168B392}"/>
              </a:ext>
            </a:extLst>
          </p:cNvPr>
          <p:cNvSpPr>
            <a:spLocks xmlns:a="http://schemas.openxmlformats.org/drawingml/2006/main" noGrp="1"/>
          </p:cNvSpPr>
          <p:nvPr/>
        </p:nvSpPr>
        <p:spPr>
          <a:xfrm xmlns:a="http://schemas.openxmlformats.org/drawingml/2006/main">
            <a:off x="3400425" y="2286000"/>
            <a:ext cx="18859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B3F"/>
                </a:solidFill>
                <a:latin typeface="DejaVu Sans"/>
                <a:ea typeface="DejaVu Sans"/>
                <a:cs typeface="DejaVu Sans"/>
              </a:defRPr>
            </a:defPPr>
            <a:lvl1pPr algn="l">
              <a:defRPr sz="1650" b="1">
                <a:solidFill>
                  <a:srgbClr val="102B3F"/>
                </a:solidFill>
                <a:latin typeface="DejaVu Sans"/>
                <a:ea typeface="DejaVu Sans"/>
                <a:cs typeface="DejaVu Sans"/>
              </a:defRPr>
            </a:lvl1pPr>
            <a:lvl2pPr algn="l">
              <a:defRPr sz="1650" b="1">
                <a:solidFill>
                  <a:srgbClr val="102B3F"/>
                </a:solidFill>
                <a:latin typeface="DejaVu Sans"/>
                <a:ea typeface="DejaVu Sans"/>
                <a:cs typeface="DejaVu Sans"/>
              </a:defRPr>
            </a:lvl2pPr>
            <a:lvl3pPr algn="l">
              <a:defRPr sz="1650" b="1">
                <a:solidFill>
                  <a:srgbClr val="102B3F"/>
                </a:solidFill>
                <a:latin typeface="DejaVu Sans"/>
                <a:ea typeface="DejaVu Sans"/>
                <a:cs typeface="DejaVu Sans"/>
              </a:defRPr>
            </a:lvl3pPr>
            <a:lvl4pPr algn="l">
              <a:defRPr sz="1650" b="1">
                <a:solidFill>
                  <a:srgbClr val="102B3F"/>
                </a:solidFill>
                <a:latin typeface="DejaVu Sans"/>
                <a:ea typeface="DejaVu Sans"/>
                <a:cs typeface="DejaVu Sans"/>
              </a:defRPr>
            </a:lvl4pPr>
            <a:lvl5pPr algn="l">
              <a:defRPr sz="1650" b="1">
                <a:solidFill>
                  <a:srgbClr val="102B3F"/>
                </a:solidFill>
                <a:latin typeface="DejaVu Sans"/>
                <a:ea typeface="DejaVu Sans"/>
                <a:cs typeface="DejaVu Sans"/>
              </a:defRPr>
            </a:lvl5pPr>
            <a:lvl6pPr algn="l">
              <a:defRPr sz="1650" b="1">
                <a:solidFill>
                  <a:srgbClr val="102B3F"/>
                </a:solidFill>
                <a:latin typeface="DejaVu Sans"/>
                <a:ea typeface="DejaVu Sans"/>
                <a:cs typeface="DejaVu Sans"/>
              </a:defRPr>
            </a:lvl6pPr>
            <a:lvl7pPr algn="l">
              <a:defRPr sz="1650" b="1">
                <a:solidFill>
                  <a:srgbClr val="102B3F"/>
                </a:solidFill>
                <a:latin typeface="DejaVu Sans"/>
                <a:ea typeface="DejaVu Sans"/>
                <a:cs typeface="DejaVu Sans"/>
              </a:defRPr>
            </a:lvl7pPr>
            <a:lvl8pPr algn="l">
              <a:defRPr sz="1650" b="1">
                <a:solidFill>
                  <a:srgbClr val="102B3F"/>
                </a:solidFill>
                <a:latin typeface="DejaVu Sans"/>
                <a:ea typeface="DejaVu Sans"/>
                <a:cs typeface="DejaVu Sans"/>
              </a:defRPr>
            </a:lvl8pPr>
            <a:lvl9pPr algn="l">
              <a:defRPr sz="1650" b="1">
                <a:solidFill>
                  <a:srgbClr val="102B3F"/>
                </a:solidFill>
                <a:latin typeface="DejaVu Sans"/>
                <a:ea typeface="DejaVu Sans"/>
                <a:cs typeface="DejaVu Sans"/>
              </a:defRPr>
            </a:lvl9pPr>
          </a:lstStyle>
          <a:p xmlns:a="http://schemas.openxmlformats.org/drawingml/2006/main">
            <a:pPr algn="l">
              <a:defRPr sz="1650" b="1">
                <a:solidFill>
                  <a:srgbClr val="102B3F"/>
                </a:solidFill>
                <a:latin typeface="DejaVu Sans"/>
                <a:ea typeface="DejaVu Sans"/>
                <a:cs typeface="DejaVu Sans"/>
              </a:defRPr>
            </a:pPr>
            <a:r>
              <a:rPr sz="1650" b="1">
                <a:solidFill>
                  <a:srgbClr val="102B3F"/>
                </a:solidFill>
                <a:latin typeface="DejaVu Sans"/>
                <a:ea typeface="DejaVu Sans"/>
                <a:cs typeface="DejaVu Sans"/>
              </a:rPr>
              <a:t>Escrow UTxO</a:t>
            </a:r>
          </a:p>
        </p:txBody>
      </p:sp>
      <p:sp>
        <p:nvSpPr>
          <p:cNvPr id="10" name="escrow-detail">
            <a:extLst xmlns:a="http://schemas.openxmlformats.org/drawingml/2006/main">
              <a:ext uri="{FF2B5EF4-FFF2-40B4-BE49-F238E27FC236}">
                <a16:creationId xmlns:a16="http://schemas.microsoft.com/office/drawing/2014/main" id="{8A988FE6-0AB5-4806-922B-D00C6F01857E}"/>
              </a:ext>
            </a:extLst>
          </p:cNvPr>
          <p:cNvSpPr>
            <a:spLocks xmlns:a="http://schemas.openxmlformats.org/drawingml/2006/main" noGrp="1"/>
          </p:cNvSpPr>
          <p:nvPr/>
        </p:nvSpPr>
        <p:spPr>
          <a:xfrm xmlns:a="http://schemas.openxmlformats.org/drawingml/2006/main">
            <a:off x="3400425" y="2638425"/>
            <a:ext cx="1885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16979"/>
                </a:solidFill>
                <a:latin typeface="DejaVu Sans"/>
                <a:ea typeface="DejaVu Sans"/>
                <a:cs typeface="DejaVu Sans"/>
              </a:defRPr>
            </a:defPPr>
            <a:lvl1pPr algn="l">
              <a:defRPr sz="1200" b="0">
                <a:solidFill>
                  <a:srgbClr val="516979"/>
                </a:solidFill>
                <a:latin typeface="DejaVu Sans"/>
                <a:ea typeface="DejaVu Sans"/>
                <a:cs typeface="DejaVu Sans"/>
              </a:defRPr>
            </a:lvl1pPr>
            <a:lvl2pPr algn="l">
              <a:defRPr sz="1200" b="0">
                <a:solidFill>
                  <a:srgbClr val="516979"/>
                </a:solidFill>
                <a:latin typeface="DejaVu Sans"/>
                <a:ea typeface="DejaVu Sans"/>
                <a:cs typeface="DejaVu Sans"/>
              </a:defRPr>
            </a:lvl2pPr>
            <a:lvl3pPr algn="l">
              <a:defRPr sz="1200" b="0">
                <a:solidFill>
                  <a:srgbClr val="516979"/>
                </a:solidFill>
                <a:latin typeface="DejaVu Sans"/>
                <a:ea typeface="DejaVu Sans"/>
                <a:cs typeface="DejaVu Sans"/>
              </a:defRPr>
            </a:lvl3pPr>
            <a:lvl4pPr algn="l">
              <a:defRPr sz="1200" b="0">
                <a:solidFill>
                  <a:srgbClr val="516979"/>
                </a:solidFill>
                <a:latin typeface="DejaVu Sans"/>
                <a:ea typeface="DejaVu Sans"/>
                <a:cs typeface="DejaVu Sans"/>
              </a:defRPr>
            </a:lvl4pPr>
            <a:lvl5pPr algn="l">
              <a:defRPr sz="1200" b="0">
                <a:solidFill>
                  <a:srgbClr val="516979"/>
                </a:solidFill>
                <a:latin typeface="DejaVu Sans"/>
                <a:ea typeface="DejaVu Sans"/>
                <a:cs typeface="DejaVu Sans"/>
              </a:defRPr>
            </a:lvl5pPr>
            <a:lvl6pPr algn="l">
              <a:defRPr sz="1200" b="0">
                <a:solidFill>
                  <a:srgbClr val="516979"/>
                </a:solidFill>
                <a:latin typeface="DejaVu Sans"/>
                <a:ea typeface="DejaVu Sans"/>
                <a:cs typeface="DejaVu Sans"/>
              </a:defRPr>
            </a:lvl6pPr>
            <a:lvl7pPr algn="l">
              <a:defRPr sz="1200" b="0">
                <a:solidFill>
                  <a:srgbClr val="516979"/>
                </a:solidFill>
                <a:latin typeface="DejaVu Sans"/>
                <a:ea typeface="DejaVu Sans"/>
                <a:cs typeface="DejaVu Sans"/>
              </a:defRPr>
            </a:lvl7pPr>
            <a:lvl8pPr algn="l">
              <a:defRPr sz="1200" b="0">
                <a:solidFill>
                  <a:srgbClr val="516979"/>
                </a:solidFill>
                <a:latin typeface="DejaVu Sans"/>
                <a:ea typeface="DejaVu Sans"/>
                <a:cs typeface="DejaVu Sans"/>
              </a:defRPr>
            </a:lvl8pPr>
            <a:lvl9pPr algn="l">
              <a:defRPr sz="1200" b="0">
                <a:solidFill>
                  <a:srgbClr val="516979"/>
                </a:solidFill>
                <a:latin typeface="DejaVu Sans"/>
                <a:ea typeface="DejaVu Sans"/>
                <a:cs typeface="DejaVu Sans"/>
              </a:defRPr>
            </a:lvl9pPr>
          </a:lstStyle>
          <a:p xmlns:a="http://schemas.openxmlformats.org/drawingml/2006/main">
            <a:pPr algn="l">
              <a:defRPr sz="1200" b="0">
                <a:solidFill>
                  <a:srgbClr val="516979"/>
                </a:solidFill>
                <a:latin typeface="DejaVu Sans"/>
                <a:ea typeface="DejaVu Sans"/>
                <a:cs typeface="DejaVu Sans"/>
              </a:defRPr>
            </a:pPr>
            <a:r>
              <a:rPr sz="1200" b="0">
                <a:solidFill>
                  <a:srgbClr val="516979"/>
                </a:solidFill>
                <a:latin typeface="DejaVu Sans"/>
                <a:ea typeface="DejaVu Sans"/>
                <a:cs typeface="DejaVu Sans"/>
              </a:rPr>
              <a:t>Stores the rule and trusted signer key</a:t>
            </a:r>
          </a:p>
        </p:txBody>
      </p:sp>
      <p:sp>
        <p:nvSpPr>
          <p:cNvPr id="11" name="validator">
            <a:extLst xmlns:a="http://schemas.openxmlformats.org/drawingml/2006/main">
              <a:ext uri="{FF2B5EF4-FFF2-40B4-BE49-F238E27FC236}">
                <a16:creationId xmlns:a16="http://schemas.microsoft.com/office/drawing/2014/main" id="{7281BBBB-D45A-4EE2-96B5-8B6D24286C62}"/>
              </a:ext>
            </a:extLst>
          </p:cNvPr>
          <p:cNvSpPr>
            <a:spLocks xmlns:a="http://schemas.openxmlformats.org/drawingml/2006/main" noGrp="1"/>
          </p:cNvSpPr>
          <p:nvPr/>
        </p:nvSpPr>
        <p:spPr>
          <a:xfrm xmlns:a="http://schemas.openxmlformats.org/drawingml/2006/main">
            <a:off x="6181725" y="2114550"/>
            <a:ext cx="2571750" cy="1200150"/>
          </a:xfrm>
          <a:prstGeom xmlns:a="http://schemas.openxmlformats.org/drawingml/2006/main" prst="roundRect">
            <a:avLst>
              <a:gd name="adj" fmla="val 11111"/>
            </a:avLst>
          </a:prstGeom>
          <a:solidFill xmlns:a="http://schemas.openxmlformats.org/drawingml/2006/main">
            <a:srgbClr val="102B3F"/>
          </a:solidFill>
          <a:ln xmlns:a="http://schemas.openxmlformats.org/drawingml/2006/main" w="14288">
            <a:solidFill>
              <a:srgbClr val="102B3F"/>
            </a:solidFill>
            <a:prstDash val="solid"/>
          </a:ln>
        </p:spPr>
      </p:sp>
      <p:sp>
        <p:nvSpPr>
          <p:cNvPr id="12" name="validator-heading">
            <a:extLst xmlns:a="http://schemas.openxmlformats.org/drawingml/2006/main">
              <a:ext uri="{FF2B5EF4-FFF2-40B4-BE49-F238E27FC236}">
                <a16:creationId xmlns:a16="http://schemas.microsoft.com/office/drawing/2014/main" id="{363FF889-1C40-4390-88E3-906A4DFD015C}"/>
              </a:ext>
            </a:extLst>
          </p:cNvPr>
          <p:cNvSpPr>
            <a:spLocks xmlns:a="http://schemas.openxmlformats.org/drawingml/2006/main" noGrp="1"/>
          </p:cNvSpPr>
          <p:nvPr/>
        </p:nvSpPr>
        <p:spPr>
          <a:xfrm xmlns:a="http://schemas.openxmlformats.org/drawingml/2006/main">
            <a:off x="6353175" y="228600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FFFFFF"/>
                </a:solidFill>
                <a:latin typeface="DejaVu Sans"/>
                <a:ea typeface="DejaVu Sans"/>
                <a:cs typeface="DejaVu Sans"/>
              </a:defRPr>
            </a:defPPr>
            <a:lvl1pPr algn="l">
              <a:defRPr sz="1650" b="1">
                <a:solidFill>
                  <a:srgbClr val="FFFFFF"/>
                </a:solidFill>
                <a:latin typeface="DejaVu Sans"/>
                <a:ea typeface="DejaVu Sans"/>
                <a:cs typeface="DejaVu Sans"/>
              </a:defRPr>
            </a:lvl1pPr>
            <a:lvl2pPr algn="l">
              <a:defRPr sz="1650" b="1">
                <a:solidFill>
                  <a:srgbClr val="FFFFFF"/>
                </a:solidFill>
                <a:latin typeface="DejaVu Sans"/>
                <a:ea typeface="DejaVu Sans"/>
                <a:cs typeface="DejaVu Sans"/>
              </a:defRPr>
            </a:lvl2pPr>
            <a:lvl3pPr algn="l">
              <a:defRPr sz="1650" b="1">
                <a:solidFill>
                  <a:srgbClr val="FFFFFF"/>
                </a:solidFill>
                <a:latin typeface="DejaVu Sans"/>
                <a:ea typeface="DejaVu Sans"/>
                <a:cs typeface="DejaVu Sans"/>
              </a:defRPr>
            </a:lvl3pPr>
            <a:lvl4pPr algn="l">
              <a:defRPr sz="1650" b="1">
                <a:solidFill>
                  <a:srgbClr val="FFFFFF"/>
                </a:solidFill>
                <a:latin typeface="DejaVu Sans"/>
                <a:ea typeface="DejaVu Sans"/>
                <a:cs typeface="DejaVu Sans"/>
              </a:defRPr>
            </a:lvl4pPr>
            <a:lvl5pPr algn="l">
              <a:defRPr sz="1650" b="1">
                <a:solidFill>
                  <a:srgbClr val="FFFFFF"/>
                </a:solidFill>
                <a:latin typeface="DejaVu Sans"/>
                <a:ea typeface="DejaVu Sans"/>
                <a:cs typeface="DejaVu Sans"/>
              </a:defRPr>
            </a:lvl5pPr>
            <a:lvl6pPr algn="l">
              <a:defRPr sz="1650" b="1">
                <a:solidFill>
                  <a:srgbClr val="FFFFFF"/>
                </a:solidFill>
                <a:latin typeface="DejaVu Sans"/>
                <a:ea typeface="DejaVu Sans"/>
                <a:cs typeface="DejaVu Sans"/>
              </a:defRPr>
            </a:lvl6pPr>
            <a:lvl7pPr algn="l">
              <a:defRPr sz="1650" b="1">
                <a:solidFill>
                  <a:srgbClr val="FFFFFF"/>
                </a:solidFill>
                <a:latin typeface="DejaVu Sans"/>
                <a:ea typeface="DejaVu Sans"/>
                <a:cs typeface="DejaVu Sans"/>
              </a:defRPr>
            </a:lvl7pPr>
            <a:lvl8pPr algn="l">
              <a:defRPr sz="1650" b="1">
                <a:solidFill>
                  <a:srgbClr val="FFFFFF"/>
                </a:solidFill>
                <a:latin typeface="DejaVu Sans"/>
                <a:ea typeface="DejaVu Sans"/>
                <a:cs typeface="DejaVu Sans"/>
              </a:defRPr>
            </a:lvl8pPr>
            <a:lvl9pPr algn="l">
              <a:defRPr sz="1650" b="1">
                <a:solidFill>
                  <a:srgbClr val="FFFFFF"/>
                </a:solidFill>
                <a:latin typeface="DejaVu Sans"/>
                <a:ea typeface="DejaVu Sans"/>
                <a:cs typeface="DejaVu Sans"/>
              </a:defRPr>
            </a:lvl9pPr>
          </a:lstStyle>
          <a:p xmlns:a="http://schemas.openxmlformats.org/drawingml/2006/main">
            <a:pPr algn="l">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Aiken validator</a:t>
            </a:r>
          </a:p>
        </p:txBody>
      </p:sp>
      <p:sp>
        <p:nvSpPr>
          <p:cNvPr id="13" name="validator-detail">
            <a:extLst xmlns:a="http://schemas.openxmlformats.org/drawingml/2006/main">
              <a:ext uri="{FF2B5EF4-FFF2-40B4-BE49-F238E27FC236}">
                <a16:creationId xmlns:a16="http://schemas.microsoft.com/office/drawing/2014/main" id="{A585EC6E-9ABC-4C65-96DB-B8CE9814A93A}"/>
              </a:ext>
            </a:extLst>
          </p:cNvPr>
          <p:cNvSpPr>
            <a:spLocks xmlns:a="http://schemas.openxmlformats.org/drawingml/2006/main" noGrp="1"/>
          </p:cNvSpPr>
          <p:nvPr/>
        </p:nvSpPr>
        <p:spPr>
          <a:xfrm xmlns:a="http://schemas.openxmlformats.org/drawingml/2006/main">
            <a:off x="6353175" y="2638425"/>
            <a:ext cx="2228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DCEEF0"/>
                </a:solidFill>
                <a:latin typeface="DejaVu Sans"/>
                <a:ea typeface="DejaVu Sans"/>
                <a:cs typeface="DejaVu Sans"/>
              </a:defRPr>
            </a:defPPr>
            <a:lvl1pPr algn="l">
              <a:defRPr sz="1200" b="0">
                <a:solidFill>
                  <a:srgbClr val="DCEEF0"/>
                </a:solidFill>
                <a:latin typeface="DejaVu Sans"/>
                <a:ea typeface="DejaVu Sans"/>
                <a:cs typeface="DejaVu Sans"/>
              </a:defRPr>
            </a:lvl1pPr>
            <a:lvl2pPr algn="l">
              <a:defRPr sz="1200" b="0">
                <a:solidFill>
                  <a:srgbClr val="DCEEF0"/>
                </a:solidFill>
                <a:latin typeface="DejaVu Sans"/>
                <a:ea typeface="DejaVu Sans"/>
                <a:cs typeface="DejaVu Sans"/>
              </a:defRPr>
            </a:lvl2pPr>
            <a:lvl3pPr algn="l">
              <a:defRPr sz="1200" b="0">
                <a:solidFill>
                  <a:srgbClr val="DCEEF0"/>
                </a:solidFill>
                <a:latin typeface="DejaVu Sans"/>
                <a:ea typeface="DejaVu Sans"/>
                <a:cs typeface="DejaVu Sans"/>
              </a:defRPr>
            </a:lvl3pPr>
            <a:lvl4pPr algn="l">
              <a:defRPr sz="1200" b="0">
                <a:solidFill>
                  <a:srgbClr val="DCEEF0"/>
                </a:solidFill>
                <a:latin typeface="DejaVu Sans"/>
                <a:ea typeface="DejaVu Sans"/>
                <a:cs typeface="DejaVu Sans"/>
              </a:defRPr>
            </a:lvl4pPr>
            <a:lvl5pPr algn="l">
              <a:defRPr sz="1200" b="0">
                <a:solidFill>
                  <a:srgbClr val="DCEEF0"/>
                </a:solidFill>
                <a:latin typeface="DejaVu Sans"/>
                <a:ea typeface="DejaVu Sans"/>
                <a:cs typeface="DejaVu Sans"/>
              </a:defRPr>
            </a:lvl5pPr>
            <a:lvl6pPr algn="l">
              <a:defRPr sz="1200" b="0">
                <a:solidFill>
                  <a:srgbClr val="DCEEF0"/>
                </a:solidFill>
                <a:latin typeface="DejaVu Sans"/>
                <a:ea typeface="DejaVu Sans"/>
                <a:cs typeface="DejaVu Sans"/>
              </a:defRPr>
            </a:lvl6pPr>
            <a:lvl7pPr algn="l">
              <a:defRPr sz="1200" b="0">
                <a:solidFill>
                  <a:srgbClr val="DCEEF0"/>
                </a:solidFill>
                <a:latin typeface="DejaVu Sans"/>
                <a:ea typeface="DejaVu Sans"/>
                <a:cs typeface="DejaVu Sans"/>
              </a:defRPr>
            </a:lvl7pPr>
            <a:lvl8pPr algn="l">
              <a:defRPr sz="1200" b="0">
                <a:solidFill>
                  <a:srgbClr val="DCEEF0"/>
                </a:solidFill>
                <a:latin typeface="DejaVu Sans"/>
                <a:ea typeface="DejaVu Sans"/>
                <a:cs typeface="DejaVu Sans"/>
              </a:defRPr>
            </a:lvl8pPr>
            <a:lvl9pPr algn="l">
              <a:defRPr sz="1200" b="0">
                <a:solidFill>
                  <a:srgbClr val="DCEEF0"/>
                </a:solidFill>
                <a:latin typeface="DejaVu Sans"/>
                <a:ea typeface="DejaVu Sans"/>
                <a:cs typeface="DejaVu Sans"/>
              </a:defRPr>
            </a:lvl9pPr>
          </a:lstStyle>
          <a:p xmlns:a="http://schemas.openxmlformats.org/drawingml/2006/main">
            <a:pPr algn="l">
              <a:defRPr sz="1200" b="0">
                <a:solidFill>
                  <a:srgbClr val="DCEEF0"/>
                </a:solidFill>
                <a:latin typeface="DejaVu Sans"/>
                <a:ea typeface="DejaVu Sans"/>
                <a:cs typeface="DejaVu Sans"/>
              </a:defRPr>
            </a:pPr>
            <a:r>
              <a:rPr sz="1200" b="0">
                <a:solidFill>
                  <a:srgbClr val="DCEEF0"/>
                </a:solidFill>
                <a:latin typeface="DejaVu Sans"/>
                <a:ea typeface="DejaVu Sans"/>
                <a:cs typeface="DejaVu Sans"/>
              </a:rPr>
              <a:t>Checks signature, request, time and KPI</a:t>
            </a:r>
          </a:p>
        </p:txBody>
      </p:sp>
      <p:sp>
        <p:nvSpPr>
          <p:cNvPr id="14" name="creator">
            <a:extLst xmlns:a="http://schemas.openxmlformats.org/drawingml/2006/main">
              <a:ext uri="{FF2B5EF4-FFF2-40B4-BE49-F238E27FC236}">
                <a16:creationId xmlns:a16="http://schemas.microsoft.com/office/drawing/2014/main" id="{47C8197A-6CF2-439A-A517-5D49AB4EECD6}"/>
              </a:ext>
            </a:extLst>
          </p:cNvPr>
          <p:cNvSpPr>
            <a:spLocks xmlns:a="http://schemas.openxmlformats.org/drawingml/2006/main" noGrp="1"/>
          </p:cNvSpPr>
          <p:nvPr/>
        </p:nvSpPr>
        <p:spPr>
          <a:xfrm xmlns:a="http://schemas.openxmlformats.org/drawingml/2006/main">
            <a:off x="9525000" y="2114550"/>
            <a:ext cx="198120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A9BBC5"/>
            </a:solidFill>
            <a:prstDash val="solid"/>
          </a:ln>
        </p:spPr>
      </p:sp>
      <p:sp>
        <p:nvSpPr>
          <p:cNvPr id="15" name="creator-heading">
            <a:extLst xmlns:a="http://schemas.openxmlformats.org/drawingml/2006/main">
              <a:ext uri="{FF2B5EF4-FFF2-40B4-BE49-F238E27FC236}">
                <a16:creationId xmlns:a16="http://schemas.microsoft.com/office/drawing/2014/main" id="{59BB01F5-2A10-4F62-BEFC-4BD93BB5FE23}"/>
              </a:ext>
            </a:extLst>
          </p:cNvPr>
          <p:cNvSpPr>
            <a:spLocks xmlns:a="http://schemas.openxmlformats.org/drawingml/2006/main" noGrp="1"/>
          </p:cNvSpPr>
          <p:nvPr/>
        </p:nvSpPr>
        <p:spPr>
          <a:xfrm xmlns:a="http://schemas.openxmlformats.org/drawingml/2006/main">
            <a:off x="9696450" y="2286000"/>
            <a:ext cx="16383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B3F"/>
                </a:solidFill>
                <a:latin typeface="DejaVu Sans"/>
                <a:ea typeface="DejaVu Sans"/>
                <a:cs typeface="DejaVu Sans"/>
              </a:defRPr>
            </a:defPPr>
            <a:lvl1pPr algn="l">
              <a:defRPr sz="1650" b="1">
                <a:solidFill>
                  <a:srgbClr val="102B3F"/>
                </a:solidFill>
                <a:latin typeface="DejaVu Sans"/>
                <a:ea typeface="DejaVu Sans"/>
                <a:cs typeface="DejaVu Sans"/>
              </a:defRPr>
            </a:lvl1pPr>
            <a:lvl2pPr algn="l">
              <a:defRPr sz="1650" b="1">
                <a:solidFill>
                  <a:srgbClr val="102B3F"/>
                </a:solidFill>
                <a:latin typeface="DejaVu Sans"/>
                <a:ea typeface="DejaVu Sans"/>
                <a:cs typeface="DejaVu Sans"/>
              </a:defRPr>
            </a:lvl2pPr>
            <a:lvl3pPr algn="l">
              <a:defRPr sz="1650" b="1">
                <a:solidFill>
                  <a:srgbClr val="102B3F"/>
                </a:solidFill>
                <a:latin typeface="DejaVu Sans"/>
                <a:ea typeface="DejaVu Sans"/>
                <a:cs typeface="DejaVu Sans"/>
              </a:defRPr>
            </a:lvl3pPr>
            <a:lvl4pPr algn="l">
              <a:defRPr sz="1650" b="1">
                <a:solidFill>
                  <a:srgbClr val="102B3F"/>
                </a:solidFill>
                <a:latin typeface="DejaVu Sans"/>
                <a:ea typeface="DejaVu Sans"/>
                <a:cs typeface="DejaVu Sans"/>
              </a:defRPr>
            </a:lvl4pPr>
            <a:lvl5pPr algn="l">
              <a:defRPr sz="1650" b="1">
                <a:solidFill>
                  <a:srgbClr val="102B3F"/>
                </a:solidFill>
                <a:latin typeface="DejaVu Sans"/>
                <a:ea typeface="DejaVu Sans"/>
                <a:cs typeface="DejaVu Sans"/>
              </a:defRPr>
            </a:lvl5pPr>
            <a:lvl6pPr algn="l">
              <a:defRPr sz="1650" b="1">
                <a:solidFill>
                  <a:srgbClr val="102B3F"/>
                </a:solidFill>
                <a:latin typeface="DejaVu Sans"/>
                <a:ea typeface="DejaVu Sans"/>
                <a:cs typeface="DejaVu Sans"/>
              </a:defRPr>
            </a:lvl6pPr>
            <a:lvl7pPr algn="l">
              <a:defRPr sz="1650" b="1">
                <a:solidFill>
                  <a:srgbClr val="102B3F"/>
                </a:solidFill>
                <a:latin typeface="DejaVu Sans"/>
                <a:ea typeface="DejaVu Sans"/>
                <a:cs typeface="DejaVu Sans"/>
              </a:defRPr>
            </a:lvl7pPr>
            <a:lvl8pPr algn="l">
              <a:defRPr sz="1650" b="1">
                <a:solidFill>
                  <a:srgbClr val="102B3F"/>
                </a:solidFill>
                <a:latin typeface="DejaVu Sans"/>
                <a:ea typeface="DejaVu Sans"/>
                <a:cs typeface="DejaVu Sans"/>
              </a:defRPr>
            </a:lvl8pPr>
            <a:lvl9pPr algn="l">
              <a:defRPr sz="1650" b="1">
                <a:solidFill>
                  <a:srgbClr val="102B3F"/>
                </a:solidFill>
                <a:latin typeface="DejaVu Sans"/>
                <a:ea typeface="DejaVu Sans"/>
                <a:cs typeface="DejaVu Sans"/>
              </a:defRPr>
            </a:lvl9pPr>
          </a:lstStyle>
          <a:p xmlns:a="http://schemas.openxmlformats.org/drawingml/2006/main">
            <a:pPr algn="l">
              <a:defRPr sz="1650" b="1">
                <a:solidFill>
                  <a:srgbClr val="102B3F"/>
                </a:solidFill>
                <a:latin typeface="DejaVu Sans"/>
                <a:ea typeface="DejaVu Sans"/>
                <a:cs typeface="DejaVu Sans"/>
              </a:defRPr>
            </a:pPr>
            <a:r>
              <a:rPr sz="1650" b="1">
                <a:solidFill>
                  <a:srgbClr val="102B3F"/>
                </a:solidFill>
                <a:latin typeface="DejaVu Sans"/>
                <a:ea typeface="DejaVu Sans"/>
                <a:cs typeface="DejaVu Sans"/>
              </a:rPr>
              <a:t>Creator</a:t>
            </a:r>
          </a:p>
        </p:txBody>
      </p:sp>
      <p:sp>
        <p:nvSpPr>
          <p:cNvPr id="16" name="creator-detail">
            <a:extLst xmlns:a="http://schemas.openxmlformats.org/drawingml/2006/main">
              <a:ext uri="{FF2B5EF4-FFF2-40B4-BE49-F238E27FC236}">
                <a16:creationId xmlns:a16="http://schemas.microsoft.com/office/drawing/2014/main" id="{754A7555-A19A-4849-A7D0-2175E2B4DC45}"/>
              </a:ext>
            </a:extLst>
          </p:cNvPr>
          <p:cNvSpPr>
            <a:spLocks xmlns:a="http://schemas.openxmlformats.org/drawingml/2006/main" noGrp="1"/>
          </p:cNvSpPr>
          <p:nvPr/>
        </p:nvSpPr>
        <p:spPr>
          <a:xfrm xmlns:a="http://schemas.openxmlformats.org/drawingml/2006/main">
            <a:off x="9696450" y="263842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16979"/>
                </a:solidFill>
                <a:latin typeface="DejaVu Sans"/>
                <a:ea typeface="DejaVu Sans"/>
                <a:cs typeface="DejaVu Sans"/>
              </a:defRPr>
            </a:defPPr>
            <a:lvl1pPr algn="l">
              <a:defRPr sz="1200" b="0">
                <a:solidFill>
                  <a:srgbClr val="516979"/>
                </a:solidFill>
                <a:latin typeface="DejaVu Sans"/>
                <a:ea typeface="DejaVu Sans"/>
                <a:cs typeface="DejaVu Sans"/>
              </a:defRPr>
            </a:lvl1pPr>
            <a:lvl2pPr algn="l">
              <a:defRPr sz="1200" b="0">
                <a:solidFill>
                  <a:srgbClr val="516979"/>
                </a:solidFill>
                <a:latin typeface="DejaVu Sans"/>
                <a:ea typeface="DejaVu Sans"/>
                <a:cs typeface="DejaVu Sans"/>
              </a:defRPr>
            </a:lvl2pPr>
            <a:lvl3pPr algn="l">
              <a:defRPr sz="1200" b="0">
                <a:solidFill>
                  <a:srgbClr val="516979"/>
                </a:solidFill>
                <a:latin typeface="DejaVu Sans"/>
                <a:ea typeface="DejaVu Sans"/>
                <a:cs typeface="DejaVu Sans"/>
              </a:defRPr>
            </a:lvl3pPr>
            <a:lvl4pPr algn="l">
              <a:defRPr sz="1200" b="0">
                <a:solidFill>
                  <a:srgbClr val="516979"/>
                </a:solidFill>
                <a:latin typeface="DejaVu Sans"/>
                <a:ea typeface="DejaVu Sans"/>
                <a:cs typeface="DejaVu Sans"/>
              </a:defRPr>
            </a:lvl4pPr>
            <a:lvl5pPr algn="l">
              <a:defRPr sz="1200" b="0">
                <a:solidFill>
                  <a:srgbClr val="516979"/>
                </a:solidFill>
                <a:latin typeface="DejaVu Sans"/>
                <a:ea typeface="DejaVu Sans"/>
                <a:cs typeface="DejaVu Sans"/>
              </a:defRPr>
            </a:lvl5pPr>
            <a:lvl6pPr algn="l">
              <a:defRPr sz="1200" b="0">
                <a:solidFill>
                  <a:srgbClr val="516979"/>
                </a:solidFill>
                <a:latin typeface="DejaVu Sans"/>
                <a:ea typeface="DejaVu Sans"/>
                <a:cs typeface="DejaVu Sans"/>
              </a:defRPr>
            </a:lvl6pPr>
            <a:lvl7pPr algn="l">
              <a:defRPr sz="1200" b="0">
                <a:solidFill>
                  <a:srgbClr val="516979"/>
                </a:solidFill>
                <a:latin typeface="DejaVu Sans"/>
                <a:ea typeface="DejaVu Sans"/>
                <a:cs typeface="DejaVu Sans"/>
              </a:defRPr>
            </a:lvl7pPr>
            <a:lvl8pPr algn="l">
              <a:defRPr sz="1200" b="0">
                <a:solidFill>
                  <a:srgbClr val="516979"/>
                </a:solidFill>
                <a:latin typeface="DejaVu Sans"/>
                <a:ea typeface="DejaVu Sans"/>
                <a:cs typeface="DejaVu Sans"/>
              </a:defRPr>
            </a:lvl8pPr>
            <a:lvl9pPr algn="l">
              <a:defRPr sz="1200" b="0">
                <a:solidFill>
                  <a:srgbClr val="516979"/>
                </a:solidFill>
                <a:latin typeface="DejaVu Sans"/>
                <a:ea typeface="DejaVu Sans"/>
                <a:cs typeface="DejaVu Sans"/>
              </a:defRPr>
            </a:lvl9pPr>
          </a:lstStyle>
          <a:p xmlns:a="http://schemas.openxmlformats.org/drawingml/2006/main">
            <a:pPr algn="l">
              <a:defRPr sz="1200" b="0">
                <a:solidFill>
                  <a:srgbClr val="516979"/>
                </a:solidFill>
                <a:latin typeface="DejaVu Sans"/>
                <a:ea typeface="DejaVu Sans"/>
                <a:cs typeface="DejaVu Sans"/>
              </a:defRPr>
            </a:pPr>
            <a:r>
              <a:rPr sz="1200" b="0">
                <a:solidFill>
                  <a:srgbClr val="516979"/>
                </a:solidFill>
                <a:latin typeface="DejaVu Sans"/>
                <a:ea typeface="DejaVu Sans"/>
                <a:cs typeface="DejaVu Sans"/>
              </a:rPr>
              <a:t>Receives the agreed payout</a:t>
            </a:r>
          </a:p>
        </p:txBody>
      </p:sp>
      <p:sp>
        <p:nvSpPr>
          <p:cNvPr id="17" name="post">
            <a:extLst xmlns:a="http://schemas.openxmlformats.org/drawingml/2006/main">
              <a:ext uri="{FF2B5EF4-FFF2-40B4-BE49-F238E27FC236}">
                <a16:creationId xmlns:a16="http://schemas.microsoft.com/office/drawing/2014/main" id="{E07333EE-76B9-46D2-9256-B548350EC3AB}"/>
              </a:ext>
            </a:extLst>
          </p:cNvPr>
          <p:cNvSpPr>
            <a:spLocks xmlns:a="http://schemas.openxmlformats.org/drawingml/2006/main" noGrp="1"/>
          </p:cNvSpPr>
          <p:nvPr/>
        </p:nvSpPr>
        <p:spPr>
          <a:xfrm xmlns:a="http://schemas.openxmlformats.org/drawingml/2006/main">
            <a:off x="685800" y="4171950"/>
            <a:ext cx="1952625"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A9BBC5"/>
            </a:solidFill>
            <a:prstDash val="solid"/>
          </a:ln>
        </p:spPr>
      </p:sp>
      <p:sp>
        <p:nvSpPr>
          <p:cNvPr id="18" name="post-heading">
            <a:extLst xmlns:a="http://schemas.openxmlformats.org/drawingml/2006/main">
              <a:ext uri="{FF2B5EF4-FFF2-40B4-BE49-F238E27FC236}">
                <a16:creationId xmlns:a16="http://schemas.microsoft.com/office/drawing/2014/main" id="{80BD543A-B040-40EA-9A85-89C6AC39284F}"/>
              </a:ext>
            </a:extLst>
          </p:cNvPr>
          <p:cNvSpPr>
            <a:spLocks xmlns:a="http://schemas.openxmlformats.org/drawingml/2006/main" noGrp="1"/>
          </p:cNvSpPr>
          <p:nvPr/>
        </p:nvSpPr>
        <p:spPr>
          <a:xfrm xmlns:a="http://schemas.openxmlformats.org/drawingml/2006/main">
            <a:off x="857250" y="4343400"/>
            <a:ext cx="16097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B3F"/>
                </a:solidFill>
                <a:latin typeface="DejaVu Sans"/>
                <a:ea typeface="DejaVu Sans"/>
                <a:cs typeface="DejaVu Sans"/>
              </a:defRPr>
            </a:defPPr>
            <a:lvl1pPr algn="l">
              <a:defRPr sz="1650" b="1">
                <a:solidFill>
                  <a:srgbClr val="102B3F"/>
                </a:solidFill>
                <a:latin typeface="DejaVu Sans"/>
                <a:ea typeface="DejaVu Sans"/>
                <a:cs typeface="DejaVu Sans"/>
              </a:defRPr>
            </a:lvl1pPr>
            <a:lvl2pPr algn="l">
              <a:defRPr sz="1650" b="1">
                <a:solidFill>
                  <a:srgbClr val="102B3F"/>
                </a:solidFill>
                <a:latin typeface="DejaVu Sans"/>
                <a:ea typeface="DejaVu Sans"/>
                <a:cs typeface="DejaVu Sans"/>
              </a:defRPr>
            </a:lvl2pPr>
            <a:lvl3pPr algn="l">
              <a:defRPr sz="1650" b="1">
                <a:solidFill>
                  <a:srgbClr val="102B3F"/>
                </a:solidFill>
                <a:latin typeface="DejaVu Sans"/>
                <a:ea typeface="DejaVu Sans"/>
                <a:cs typeface="DejaVu Sans"/>
              </a:defRPr>
            </a:lvl3pPr>
            <a:lvl4pPr algn="l">
              <a:defRPr sz="1650" b="1">
                <a:solidFill>
                  <a:srgbClr val="102B3F"/>
                </a:solidFill>
                <a:latin typeface="DejaVu Sans"/>
                <a:ea typeface="DejaVu Sans"/>
                <a:cs typeface="DejaVu Sans"/>
              </a:defRPr>
            </a:lvl4pPr>
            <a:lvl5pPr algn="l">
              <a:defRPr sz="1650" b="1">
                <a:solidFill>
                  <a:srgbClr val="102B3F"/>
                </a:solidFill>
                <a:latin typeface="DejaVu Sans"/>
                <a:ea typeface="DejaVu Sans"/>
                <a:cs typeface="DejaVu Sans"/>
              </a:defRPr>
            </a:lvl5pPr>
            <a:lvl6pPr algn="l">
              <a:defRPr sz="1650" b="1">
                <a:solidFill>
                  <a:srgbClr val="102B3F"/>
                </a:solidFill>
                <a:latin typeface="DejaVu Sans"/>
                <a:ea typeface="DejaVu Sans"/>
                <a:cs typeface="DejaVu Sans"/>
              </a:defRPr>
            </a:lvl6pPr>
            <a:lvl7pPr algn="l">
              <a:defRPr sz="1650" b="1">
                <a:solidFill>
                  <a:srgbClr val="102B3F"/>
                </a:solidFill>
                <a:latin typeface="DejaVu Sans"/>
                <a:ea typeface="DejaVu Sans"/>
                <a:cs typeface="DejaVu Sans"/>
              </a:defRPr>
            </a:lvl7pPr>
            <a:lvl8pPr algn="l">
              <a:defRPr sz="1650" b="1">
                <a:solidFill>
                  <a:srgbClr val="102B3F"/>
                </a:solidFill>
                <a:latin typeface="DejaVu Sans"/>
                <a:ea typeface="DejaVu Sans"/>
                <a:cs typeface="DejaVu Sans"/>
              </a:defRPr>
            </a:lvl8pPr>
            <a:lvl9pPr algn="l">
              <a:defRPr sz="1650" b="1">
                <a:solidFill>
                  <a:srgbClr val="102B3F"/>
                </a:solidFill>
                <a:latin typeface="DejaVu Sans"/>
                <a:ea typeface="DejaVu Sans"/>
                <a:cs typeface="DejaVu Sans"/>
              </a:defRPr>
            </a:lvl9pPr>
          </a:lstStyle>
          <a:p xmlns:a="http://schemas.openxmlformats.org/drawingml/2006/main">
            <a:pPr algn="l">
              <a:defRPr sz="1650" b="1">
                <a:solidFill>
                  <a:srgbClr val="102B3F"/>
                </a:solidFill>
                <a:latin typeface="DejaVu Sans"/>
                <a:ea typeface="DejaVu Sans"/>
                <a:cs typeface="DejaVu Sans"/>
              </a:defRPr>
            </a:pPr>
            <a:r>
              <a:rPr sz="1650" b="1">
                <a:solidFill>
                  <a:srgbClr val="102B3F"/>
                </a:solidFill>
                <a:latin typeface="DejaVu Sans"/>
                <a:ea typeface="DejaVu Sans"/>
                <a:cs typeface="DejaVu Sans"/>
              </a:rPr>
              <a:t>Creator post</a:t>
            </a:r>
          </a:p>
        </p:txBody>
      </p:sp>
      <p:sp>
        <p:nvSpPr>
          <p:cNvPr id="19" name="post-detail">
            <a:extLst xmlns:a="http://schemas.openxmlformats.org/drawingml/2006/main">
              <a:ext uri="{FF2B5EF4-FFF2-40B4-BE49-F238E27FC236}">
                <a16:creationId xmlns:a16="http://schemas.microsoft.com/office/drawing/2014/main" id="{95392704-81C2-4D64-8F65-1D32C0888AC6}"/>
              </a:ext>
            </a:extLst>
          </p:cNvPr>
          <p:cNvSpPr>
            <a:spLocks xmlns:a="http://schemas.openxmlformats.org/drawingml/2006/main" noGrp="1"/>
          </p:cNvSpPr>
          <p:nvPr/>
        </p:nvSpPr>
        <p:spPr>
          <a:xfrm xmlns:a="http://schemas.openxmlformats.org/drawingml/2006/main">
            <a:off x="857250" y="4695825"/>
            <a:ext cx="16097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16979"/>
                </a:solidFill>
                <a:latin typeface="DejaVu Sans"/>
                <a:ea typeface="DejaVu Sans"/>
                <a:cs typeface="DejaVu Sans"/>
              </a:defRPr>
            </a:defPPr>
            <a:lvl1pPr algn="l">
              <a:defRPr sz="1200" b="0">
                <a:solidFill>
                  <a:srgbClr val="516979"/>
                </a:solidFill>
                <a:latin typeface="DejaVu Sans"/>
                <a:ea typeface="DejaVu Sans"/>
                <a:cs typeface="DejaVu Sans"/>
              </a:defRPr>
            </a:lvl1pPr>
            <a:lvl2pPr algn="l">
              <a:defRPr sz="1200" b="0">
                <a:solidFill>
                  <a:srgbClr val="516979"/>
                </a:solidFill>
                <a:latin typeface="DejaVu Sans"/>
                <a:ea typeface="DejaVu Sans"/>
                <a:cs typeface="DejaVu Sans"/>
              </a:defRPr>
            </a:lvl2pPr>
            <a:lvl3pPr algn="l">
              <a:defRPr sz="1200" b="0">
                <a:solidFill>
                  <a:srgbClr val="516979"/>
                </a:solidFill>
                <a:latin typeface="DejaVu Sans"/>
                <a:ea typeface="DejaVu Sans"/>
                <a:cs typeface="DejaVu Sans"/>
              </a:defRPr>
            </a:lvl3pPr>
            <a:lvl4pPr algn="l">
              <a:defRPr sz="1200" b="0">
                <a:solidFill>
                  <a:srgbClr val="516979"/>
                </a:solidFill>
                <a:latin typeface="DejaVu Sans"/>
                <a:ea typeface="DejaVu Sans"/>
                <a:cs typeface="DejaVu Sans"/>
              </a:defRPr>
            </a:lvl4pPr>
            <a:lvl5pPr algn="l">
              <a:defRPr sz="1200" b="0">
                <a:solidFill>
                  <a:srgbClr val="516979"/>
                </a:solidFill>
                <a:latin typeface="DejaVu Sans"/>
                <a:ea typeface="DejaVu Sans"/>
                <a:cs typeface="DejaVu Sans"/>
              </a:defRPr>
            </a:lvl5pPr>
            <a:lvl6pPr algn="l">
              <a:defRPr sz="1200" b="0">
                <a:solidFill>
                  <a:srgbClr val="516979"/>
                </a:solidFill>
                <a:latin typeface="DejaVu Sans"/>
                <a:ea typeface="DejaVu Sans"/>
                <a:cs typeface="DejaVu Sans"/>
              </a:defRPr>
            </a:lvl6pPr>
            <a:lvl7pPr algn="l">
              <a:defRPr sz="1200" b="0">
                <a:solidFill>
                  <a:srgbClr val="516979"/>
                </a:solidFill>
                <a:latin typeface="DejaVu Sans"/>
                <a:ea typeface="DejaVu Sans"/>
                <a:cs typeface="DejaVu Sans"/>
              </a:defRPr>
            </a:lvl7pPr>
            <a:lvl8pPr algn="l">
              <a:defRPr sz="1200" b="0">
                <a:solidFill>
                  <a:srgbClr val="516979"/>
                </a:solidFill>
                <a:latin typeface="DejaVu Sans"/>
                <a:ea typeface="DejaVu Sans"/>
                <a:cs typeface="DejaVu Sans"/>
              </a:defRPr>
            </a:lvl8pPr>
            <a:lvl9pPr algn="l">
              <a:defRPr sz="1200" b="0">
                <a:solidFill>
                  <a:srgbClr val="516979"/>
                </a:solidFill>
                <a:latin typeface="DejaVu Sans"/>
                <a:ea typeface="DejaVu Sans"/>
                <a:cs typeface="DejaVu Sans"/>
              </a:defRPr>
            </a:lvl9pPr>
          </a:lstStyle>
          <a:p xmlns:a="http://schemas.openxmlformats.org/drawingml/2006/main">
            <a:pPr algn="l">
              <a:defRPr sz="1200" b="0">
                <a:solidFill>
                  <a:srgbClr val="516979"/>
                </a:solidFill>
                <a:latin typeface="DejaVu Sans"/>
                <a:ea typeface="DejaVu Sans"/>
                <a:cs typeface="DejaVu Sans"/>
              </a:defRPr>
            </a:pPr>
            <a:r>
              <a:rPr sz="1200" b="0">
                <a:solidFill>
                  <a:srgbClr val="516979"/>
                </a:solidFill>
                <a:latin typeface="DejaVu Sans"/>
                <a:ea typeface="DejaVu Sans"/>
                <a:cs typeface="DejaVu Sans"/>
              </a:rPr>
              <a:t>Provides the measurable activity</a:t>
            </a:r>
          </a:p>
        </p:txBody>
      </p:sp>
      <p:sp>
        <p:nvSpPr>
          <p:cNvPr id="20" name="airnode">
            <a:extLst xmlns:a="http://schemas.openxmlformats.org/drawingml/2006/main">
              <a:ext uri="{FF2B5EF4-FFF2-40B4-BE49-F238E27FC236}">
                <a16:creationId xmlns:a16="http://schemas.microsoft.com/office/drawing/2014/main" id="{828FFCAC-A0BB-47A8-8136-95B6376CF9CE}"/>
              </a:ext>
            </a:extLst>
          </p:cNvPr>
          <p:cNvSpPr>
            <a:spLocks xmlns:a="http://schemas.openxmlformats.org/drawingml/2006/main" noGrp="1"/>
          </p:cNvSpPr>
          <p:nvPr/>
        </p:nvSpPr>
        <p:spPr>
          <a:xfrm xmlns:a="http://schemas.openxmlformats.org/drawingml/2006/main">
            <a:off x="3228975" y="4171950"/>
            <a:ext cx="22288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A9BBC5"/>
            </a:solidFill>
            <a:prstDash val="solid"/>
          </a:ln>
        </p:spPr>
      </p:sp>
      <p:sp>
        <p:nvSpPr>
          <p:cNvPr id="21" name="airnode-heading">
            <a:extLst xmlns:a="http://schemas.openxmlformats.org/drawingml/2006/main">
              <a:ext uri="{FF2B5EF4-FFF2-40B4-BE49-F238E27FC236}">
                <a16:creationId xmlns:a16="http://schemas.microsoft.com/office/drawing/2014/main" id="{5BFBDDA2-DE36-4B11-B5D3-3BBB71C869CA}"/>
              </a:ext>
            </a:extLst>
          </p:cNvPr>
          <p:cNvSpPr>
            <a:spLocks xmlns:a="http://schemas.openxmlformats.org/drawingml/2006/main" noGrp="1"/>
          </p:cNvSpPr>
          <p:nvPr/>
        </p:nvSpPr>
        <p:spPr>
          <a:xfrm xmlns:a="http://schemas.openxmlformats.org/drawingml/2006/main">
            <a:off x="3400425" y="4343400"/>
            <a:ext cx="18859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B3F"/>
                </a:solidFill>
                <a:latin typeface="DejaVu Sans"/>
                <a:ea typeface="DejaVu Sans"/>
                <a:cs typeface="DejaVu Sans"/>
              </a:defRPr>
            </a:defPPr>
            <a:lvl1pPr algn="l">
              <a:defRPr sz="1650" b="1">
                <a:solidFill>
                  <a:srgbClr val="102B3F"/>
                </a:solidFill>
                <a:latin typeface="DejaVu Sans"/>
                <a:ea typeface="DejaVu Sans"/>
                <a:cs typeface="DejaVu Sans"/>
              </a:defRPr>
            </a:lvl1pPr>
            <a:lvl2pPr algn="l">
              <a:defRPr sz="1650" b="1">
                <a:solidFill>
                  <a:srgbClr val="102B3F"/>
                </a:solidFill>
                <a:latin typeface="DejaVu Sans"/>
                <a:ea typeface="DejaVu Sans"/>
                <a:cs typeface="DejaVu Sans"/>
              </a:defRPr>
            </a:lvl2pPr>
            <a:lvl3pPr algn="l">
              <a:defRPr sz="1650" b="1">
                <a:solidFill>
                  <a:srgbClr val="102B3F"/>
                </a:solidFill>
                <a:latin typeface="DejaVu Sans"/>
                <a:ea typeface="DejaVu Sans"/>
                <a:cs typeface="DejaVu Sans"/>
              </a:defRPr>
            </a:lvl3pPr>
            <a:lvl4pPr algn="l">
              <a:defRPr sz="1650" b="1">
                <a:solidFill>
                  <a:srgbClr val="102B3F"/>
                </a:solidFill>
                <a:latin typeface="DejaVu Sans"/>
                <a:ea typeface="DejaVu Sans"/>
                <a:cs typeface="DejaVu Sans"/>
              </a:defRPr>
            </a:lvl4pPr>
            <a:lvl5pPr algn="l">
              <a:defRPr sz="1650" b="1">
                <a:solidFill>
                  <a:srgbClr val="102B3F"/>
                </a:solidFill>
                <a:latin typeface="DejaVu Sans"/>
                <a:ea typeface="DejaVu Sans"/>
                <a:cs typeface="DejaVu Sans"/>
              </a:defRPr>
            </a:lvl5pPr>
            <a:lvl6pPr algn="l">
              <a:defRPr sz="1650" b="1">
                <a:solidFill>
                  <a:srgbClr val="102B3F"/>
                </a:solidFill>
                <a:latin typeface="DejaVu Sans"/>
                <a:ea typeface="DejaVu Sans"/>
                <a:cs typeface="DejaVu Sans"/>
              </a:defRPr>
            </a:lvl6pPr>
            <a:lvl7pPr algn="l">
              <a:defRPr sz="1650" b="1">
                <a:solidFill>
                  <a:srgbClr val="102B3F"/>
                </a:solidFill>
                <a:latin typeface="DejaVu Sans"/>
                <a:ea typeface="DejaVu Sans"/>
                <a:cs typeface="DejaVu Sans"/>
              </a:defRPr>
            </a:lvl7pPr>
            <a:lvl8pPr algn="l">
              <a:defRPr sz="1650" b="1">
                <a:solidFill>
                  <a:srgbClr val="102B3F"/>
                </a:solidFill>
                <a:latin typeface="DejaVu Sans"/>
                <a:ea typeface="DejaVu Sans"/>
                <a:cs typeface="DejaVu Sans"/>
              </a:defRPr>
            </a:lvl8pPr>
            <a:lvl9pPr algn="l">
              <a:defRPr sz="1650" b="1">
                <a:solidFill>
                  <a:srgbClr val="102B3F"/>
                </a:solidFill>
                <a:latin typeface="DejaVu Sans"/>
                <a:ea typeface="DejaVu Sans"/>
                <a:cs typeface="DejaVu Sans"/>
              </a:defRPr>
            </a:lvl9pPr>
          </a:lstStyle>
          <a:p xmlns:a="http://schemas.openxmlformats.org/drawingml/2006/main">
            <a:pPr algn="l">
              <a:defRPr sz="1650" b="1">
                <a:solidFill>
                  <a:srgbClr val="102B3F"/>
                </a:solidFill>
                <a:latin typeface="DejaVu Sans"/>
                <a:ea typeface="DejaVu Sans"/>
                <a:cs typeface="DejaVu Sans"/>
              </a:defRPr>
            </a:pPr>
            <a:r>
              <a:rPr sz="1650" b="1">
                <a:solidFill>
                  <a:srgbClr val="102B3F"/>
                </a:solidFill>
                <a:latin typeface="DejaVu Sans"/>
                <a:ea typeface="DejaVu Sans"/>
                <a:cs typeface="DejaVu Sans"/>
              </a:rPr>
              <a:t>API3 AirnodeHub</a:t>
            </a:r>
          </a:p>
        </p:txBody>
      </p:sp>
      <p:sp>
        <p:nvSpPr>
          <p:cNvPr id="22" name="airnode-detail">
            <a:extLst xmlns:a="http://schemas.openxmlformats.org/drawingml/2006/main">
              <a:ext uri="{FF2B5EF4-FFF2-40B4-BE49-F238E27FC236}">
                <a16:creationId xmlns:a16="http://schemas.microsoft.com/office/drawing/2014/main" id="{5AC1EF46-1E75-4EC8-A3A0-0625989469FA}"/>
              </a:ext>
            </a:extLst>
          </p:cNvPr>
          <p:cNvSpPr>
            <a:spLocks xmlns:a="http://schemas.openxmlformats.org/drawingml/2006/main" noGrp="1"/>
          </p:cNvSpPr>
          <p:nvPr/>
        </p:nvSpPr>
        <p:spPr>
          <a:xfrm xmlns:a="http://schemas.openxmlformats.org/drawingml/2006/main">
            <a:off x="3400425" y="4695825"/>
            <a:ext cx="18859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16979"/>
                </a:solidFill>
                <a:latin typeface="DejaVu Sans"/>
                <a:ea typeface="DejaVu Sans"/>
                <a:cs typeface="DejaVu Sans"/>
              </a:defRPr>
            </a:defPPr>
            <a:lvl1pPr algn="l">
              <a:defRPr sz="1200" b="0">
                <a:solidFill>
                  <a:srgbClr val="516979"/>
                </a:solidFill>
                <a:latin typeface="DejaVu Sans"/>
                <a:ea typeface="DejaVu Sans"/>
                <a:cs typeface="DejaVu Sans"/>
              </a:defRPr>
            </a:lvl1pPr>
            <a:lvl2pPr algn="l">
              <a:defRPr sz="1200" b="0">
                <a:solidFill>
                  <a:srgbClr val="516979"/>
                </a:solidFill>
                <a:latin typeface="DejaVu Sans"/>
                <a:ea typeface="DejaVu Sans"/>
                <a:cs typeface="DejaVu Sans"/>
              </a:defRPr>
            </a:lvl2pPr>
            <a:lvl3pPr algn="l">
              <a:defRPr sz="1200" b="0">
                <a:solidFill>
                  <a:srgbClr val="516979"/>
                </a:solidFill>
                <a:latin typeface="DejaVu Sans"/>
                <a:ea typeface="DejaVu Sans"/>
                <a:cs typeface="DejaVu Sans"/>
              </a:defRPr>
            </a:lvl3pPr>
            <a:lvl4pPr algn="l">
              <a:defRPr sz="1200" b="0">
                <a:solidFill>
                  <a:srgbClr val="516979"/>
                </a:solidFill>
                <a:latin typeface="DejaVu Sans"/>
                <a:ea typeface="DejaVu Sans"/>
                <a:cs typeface="DejaVu Sans"/>
              </a:defRPr>
            </a:lvl4pPr>
            <a:lvl5pPr algn="l">
              <a:defRPr sz="1200" b="0">
                <a:solidFill>
                  <a:srgbClr val="516979"/>
                </a:solidFill>
                <a:latin typeface="DejaVu Sans"/>
                <a:ea typeface="DejaVu Sans"/>
                <a:cs typeface="DejaVu Sans"/>
              </a:defRPr>
            </a:lvl5pPr>
            <a:lvl6pPr algn="l">
              <a:defRPr sz="1200" b="0">
                <a:solidFill>
                  <a:srgbClr val="516979"/>
                </a:solidFill>
                <a:latin typeface="DejaVu Sans"/>
                <a:ea typeface="DejaVu Sans"/>
                <a:cs typeface="DejaVu Sans"/>
              </a:defRPr>
            </a:lvl6pPr>
            <a:lvl7pPr algn="l">
              <a:defRPr sz="1200" b="0">
                <a:solidFill>
                  <a:srgbClr val="516979"/>
                </a:solidFill>
                <a:latin typeface="DejaVu Sans"/>
                <a:ea typeface="DejaVu Sans"/>
                <a:cs typeface="DejaVu Sans"/>
              </a:defRPr>
            </a:lvl7pPr>
            <a:lvl8pPr algn="l">
              <a:defRPr sz="1200" b="0">
                <a:solidFill>
                  <a:srgbClr val="516979"/>
                </a:solidFill>
                <a:latin typeface="DejaVu Sans"/>
                <a:ea typeface="DejaVu Sans"/>
                <a:cs typeface="DejaVu Sans"/>
              </a:defRPr>
            </a:lvl8pPr>
            <a:lvl9pPr algn="l">
              <a:defRPr sz="1200" b="0">
                <a:solidFill>
                  <a:srgbClr val="516979"/>
                </a:solidFill>
                <a:latin typeface="DejaVu Sans"/>
                <a:ea typeface="DejaVu Sans"/>
                <a:cs typeface="DejaVu Sans"/>
              </a:defRPr>
            </a:lvl9pPr>
          </a:lstStyle>
          <a:p xmlns:a="http://schemas.openxmlformats.org/drawingml/2006/main">
            <a:pPr algn="l">
              <a:defRPr sz="1200" b="0">
                <a:solidFill>
                  <a:srgbClr val="516979"/>
                </a:solidFill>
                <a:latin typeface="DejaVu Sans"/>
                <a:ea typeface="DejaVu Sans"/>
                <a:cs typeface="DejaVu Sans"/>
              </a:defRPr>
            </a:pPr>
            <a:r>
              <a:rPr sz="1200" b="0">
                <a:solidFill>
                  <a:srgbClr val="516979"/>
                </a:solidFill>
                <a:latin typeface="DejaVu Sans"/>
                <a:ea typeface="DejaVu Sans"/>
                <a:cs typeface="DejaVu Sans"/>
              </a:rPr>
              <a:t>Signs the API response</a:t>
            </a:r>
          </a:p>
        </p:txBody>
      </p:sp>
      <p:sp>
        <p:nvSpPr>
          <p:cNvPr id="23" name="keeper">
            <a:extLst xmlns:a="http://schemas.openxmlformats.org/drawingml/2006/main">
              <a:ext uri="{FF2B5EF4-FFF2-40B4-BE49-F238E27FC236}">
                <a16:creationId xmlns:a16="http://schemas.microsoft.com/office/drawing/2014/main" id="{38BC5D34-07BA-44A2-B230-BBB1AF44CE08}"/>
              </a:ext>
            </a:extLst>
          </p:cNvPr>
          <p:cNvSpPr>
            <a:spLocks xmlns:a="http://schemas.openxmlformats.org/drawingml/2006/main" noGrp="1"/>
          </p:cNvSpPr>
          <p:nvPr/>
        </p:nvSpPr>
        <p:spPr>
          <a:xfrm xmlns:a="http://schemas.openxmlformats.org/drawingml/2006/main">
            <a:off x="6181725" y="4171950"/>
            <a:ext cx="25717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A9BBC5"/>
            </a:solidFill>
            <a:prstDash val="solid"/>
          </a:ln>
        </p:spPr>
      </p:sp>
      <p:sp>
        <p:nvSpPr>
          <p:cNvPr id="24" name="keeper-heading">
            <a:extLst xmlns:a="http://schemas.openxmlformats.org/drawingml/2006/main">
              <a:ext uri="{FF2B5EF4-FFF2-40B4-BE49-F238E27FC236}">
                <a16:creationId xmlns:a16="http://schemas.microsoft.com/office/drawing/2014/main" id="{A46AFF4B-71BD-430B-AD9C-C1B2271BEC6A}"/>
              </a:ext>
            </a:extLst>
          </p:cNvPr>
          <p:cNvSpPr>
            <a:spLocks xmlns:a="http://schemas.openxmlformats.org/drawingml/2006/main" noGrp="1"/>
          </p:cNvSpPr>
          <p:nvPr/>
        </p:nvSpPr>
        <p:spPr>
          <a:xfrm xmlns:a="http://schemas.openxmlformats.org/drawingml/2006/main">
            <a:off x="6353175" y="4343400"/>
            <a:ext cx="2228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B3F"/>
                </a:solidFill>
                <a:latin typeface="DejaVu Sans"/>
                <a:ea typeface="DejaVu Sans"/>
                <a:cs typeface="DejaVu Sans"/>
              </a:defRPr>
            </a:defPPr>
            <a:lvl1pPr algn="l">
              <a:defRPr sz="1650" b="1">
                <a:solidFill>
                  <a:srgbClr val="102B3F"/>
                </a:solidFill>
                <a:latin typeface="DejaVu Sans"/>
                <a:ea typeface="DejaVu Sans"/>
                <a:cs typeface="DejaVu Sans"/>
              </a:defRPr>
            </a:lvl1pPr>
            <a:lvl2pPr algn="l">
              <a:defRPr sz="1650" b="1">
                <a:solidFill>
                  <a:srgbClr val="102B3F"/>
                </a:solidFill>
                <a:latin typeface="DejaVu Sans"/>
                <a:ea typeface="DejaVu Sans"/>
                <a:cs typeface="DejaVu Sans"/>
              </a:defRPr>
            </a:lvl2pPr>
            <a:lvl3pPr algn="l">
              <a:defRPr sz="1650" b="1">
                <a:solidFill>
                  <a:srgbClr val="102B3F"/>
                </a:solidFill>
                <a:latin typeface="DejaVu Sans"/>
                <a:ea typeface="DejaVu Sans"/>
                <a:cs typeface="DejaVu Sans"/>
              </a:defRPr>
            </a:lvl3pPr>
            <a:lvl4pPr algn="l">
              <a:defRPr sz="1650" b="1">
                <a:solidFill>
                  <a:srgbClr val="102B3F"/>
                </a:solidFill>
                <a:latin typeface="DejaVu Sans"/>
                <a:ea typeface="DejaVu Sans"/>
                <a:cs typeface="DejaVu Sans"/>
              </a:defRPr>
            </a:lvl4pPr>
            <a:lvl5pPr algn="l">
              <a:defRPr sz="1650" b="1">
                <a:solidFill>
                  <a:srgbClr val="102B3F"/>
                </a:solidFill>
                <a:latin typeface="DejaVu Sans"/>
                <a:ea typeface="DejaVu Sans"/>
                <a:cs typeface="DejaVu Sans"/>
              </a:defRPr>
            </a:lvl5pPr>
            <a:lvl6pPr algn="l">
              <a:defRPr sz="1650" b="1">
                <a:solidFill>
                  <a:srgbClr val="102B3F"/>
                </a:solidFill>
                <a:latin typeface="DejaVu Sans"/>
                <a:ea typeface="DejaVu Sans"/>
                <a:cs typeface="DejaVu Sans"/>
              </a:defRPr>
            </a:lvl6pPr>
            <a:lvl7pPr algn="l">
              <a:defRPr sz="1650" b="1">
                <a:solidFill>
                  <a:srgbClr val="102B3F"/>
                </a:solidFill>
                <a:latin typeface="DejaVu Sans"/>
                <a:ea typeface="DejaVu Sans"/>
                <a:cs typeface="DejaVu Sans"/>
              </a:defRPr>
            </a:lvl7pPr>
            <a:lvl8pPr algn="l">
              <a:defRPr sz="1650" b="1">
                <a:solidFill>
                  <a:srgbClr val="102B3F"/>
                </a:solidFill>
                <a:latin typeface="DejaVu Sans"/>
                <a:ea typeface="DejaVu Sans"/>
                <a:cs typeface="DejaVu Sans"/>
              </a:defRPr>
            </a:lvl8pPr>
            <a:lvl9pPr algn="l">
              <a:defRPr sz="1650" b="1">
                <a:solidFill>
                  <a:srgbClr val="102B3F"/>
                </a:solidFill>
                <a:latin typeface="DejaVu Sans"/>
                <a:ea typeface="DejaVu Sans"/>
                <a:cs typeface="DejaVu Sans"/>
              </a:defRPr>
            </a:lvl9pPr>
          </a:lstStyle>
          <a:p xmlns:a="http://schemas.openxmlformats.org/drawingml/2006/main">
            <a:pPr algn="l">
              <a:defRPr sz="1650" b="1">
                <a:solidFill>
                  <a:srgbClr val="102B3F"/>
                </a:solidFill>
                <a:latin typeface="DejaVu Sans"/>
                <a:ea typeface="DejaVu Sans"/>
                <a:cs typeface="DejaVu Sans"/>
              </a:defRPr>
            </a:pPr>
            <a:r>
              <a:rPr sz="1650" b="1">
                <a:solidFill>
                  <a:srgbClr val="102B3F"/>
                </a:solidFill>
                <a:latin typeface="DejaVu Sans"/>
                <a:ea typeface="DejaVu Sans"/>
                <a:cs typeface="DejaVu Sans"/>
              </a:rPr>
              <a:t>Keeper</a:t>
            </a:r>
          </a:p>
        </p:txBody>
      </p:sp>
      <p:sp>
        <p:nvSpPr>
          <p:cNvPr id="25" name="keeper-detail">
            <a:extLst xmlns:a="http://schemas.openxmlformats.org/drawingml/2006/main">
              <a:ext uri="{FF2B5EF4-FFF2-40B4-BE49-F238E27FC236}">
                <a16:creationId xmlns:a16="http://schemas.microsoft.com/office/drawing/2014/main" id="{4424D25A-EECC-4D85-8891-0EB44AE18A83}"/>
              </a:ext>
            </a:extLst>
          </p:cNvPr>
          <p:cNvSpPr>
            <a:spLocks xmlns:a="http://schemas.openxmlformats.org/drawingml/2006/main" noGrp="1"/>
          </p:cNvSpPr>
          <p:nvPr/>
        </p:nvSpPr>
        <p:spPr>
          <a:xfrm xmlns:a="http://schemas.openxmlformats.org/drawingml/2006/main">
            <a:off x="6353175" y="4695825"/>
            <a:ext cx="2228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16979"/>
                </a:solidFill>
                <a:latin typeface="DejaVu Sans"/>
                <a:ea typeface="DejaVu Sans"/>
                <a:cs typeface="DejaVu Sans"/>
              </a:defRPr>
            </a:defPPr>
            <a:lvl1pPr algn="l">
              <a:defRPr sz="1200" b="0">
                <a:solidFill>
                  <a:srgbClr val="516979"/>
                </a:solidFill>
                <a:latin typeface="DejaVu Sans"/>
                <a:ea typeface="DejaVu Sans"/>
                <a:cs typeface="DejaVu Sans"/>
              </a:defRPr>
            </a:lvl1pPr>
            <a:lvl2pPr algn="l">
              <a:defRPr sz="1200" b="0">
                <a:solidFill>
                  <a:srgbClr val="516979"/>
                </a:solidFill>
                <a:latin typeface="DejaVu Sans"/>
                <a:ea typeface="DejaVu Sans"/>
                <a:cs typeface="DejaVu Sans"/>
              </a:defRPr>
            </a:lvl2pPr>
            <a:lvl3pPr algn="l">
              <a:defRPr sz="1200" b="0">
                <a:solidFill>
                  <a:srgbClr val="516979"/>
                </a:solidFill>
                <a:latin typeface="DejaVu Sans"/>
                <a:ea typeface="DejaVu Sans"/>
                <a:cs typeface="DejaVu Sans"/>
              </a:defRPr>
            </a:lvl3pPr>
            <a:lvl4pPr algn="l">
              <a:defRPr sz="1200" b="0">
                <a:solidFill>
                  <a:srgbClr val="516979"/>
                </a:solidFill>
                <a:latin typeface="DejaVu Sans"/>
                <a:ea typeface="DejaVu Sans"/>
                <a:cs typeface="DejaVu Sans"/>
              </a:defRPr>
            </a:lvl4pPr>
            <a:lvl5pPr algn="l">
              <a:defRPr sz="1200" b="0">
                <a:solidFill>
                  <a:srgbClr val="516979"/>
                </a:solidFill>
                <a:latin typeface="DejaVu Sans"/>
                <a:ea typeface="DejaVu Sans"/>
                <a:cs typeface="DejaVu Sans"/>
              </a:defRPr>
            </a:lvl5pPr>
            <a:lvl6pPr algn="l">
              <a:defRPr sz="1200" b="0">
                <a:solidFill>
                  <a:srgbClr val="516979"/>
                </a:solidFill>
                <a:latin typeface="DejaVu Sans"/>
                <a:ea typeface="DejaVu Sans"/>
                <a:cs typeface="DejaVu Sans"/>
              </a:defRPr>
            </a:lvl6pPr>
            <a:lvl7pPr algn="l">
              <a:defRPr sz="1200" b="0">
                <a:solidFill>
                  <a:srgbClr val="516979"/>
                </a:solidFill>
                <a:latin typeface="DejaVu Sans"/>
                <a:ea typeface="DejaVu Sans"/>
                <a:cs typeface="DejaVu Sans"/>
              </a:defRPr>
            </a:lvl7pPr>
            <a:lvl8pPr algn="l">
              <a:defRPr sz="1200" b="0">
                <a:solidFill>
                  <a:srgbClr val="516979"/>
                </a:solidFill>
                <a:latin typeface="DejaVu Sans"/>
                <a:ea typeface="DejaVu Sans"/>
                <a:cs typeface="DejaVu Sans"/>
              </a:defRPr>
            </a:lvl8pPr>
            <a:lvl9pPr algn="l">
              <a:defRPr sz="1200" b="0">
                <a:solidFill>
                  <a:srgbClr val="516979"/>
                </a:solidFill>
                <a:latin typeface="DejaVu Sans"/>
                <a:ea typeface="DejaVu Sans"/>
                <a:cs typeface="DejaVu Sans"/>
              </a:defRPr>
            </a:lvl9pPr>
          </a:lstStyle>
          <a:p xmlns:a="http://schemas.openxmlformats.org/drawingml/2006/main">
            <a:pPr algn="l">
              <a:defRPr sz="1200" b="0">
                <a:solidFill>
                  <a:srgbClr val="516979"/>
                </a:solidFill>
                <a:latin typeface="DejaVu Sans"/>
                <a:ea typeface="DejaVu Sans"/>
                <a:cs typeface="DejaVu Sans"/>
              </a:defRPr>
            </a:pPr>
            <a:r>
              <a:rPr sz="1200" b="0">
                <a:solidFill>
                  <a:srgbClr val="516979"/>
                </a:solidFill>
                <a:latin typeface="DejaVu Sans"/>
                <a:ea typeface="DejaVu Sans"/>
                <a:cs typeface="DejaVu Sans"/>
              </a:rPr>
              <a:t>Carries data and signature into a release transaction</a:t>
            </a:r>
          </a:p>
        </p:txBody>
      </p:sp>
      <p:sp>
        <p:nvSpPr>
          <p:cNvPr id="32" name="footer">
            <a:extLst xmlns:a="http://schemas.openxmlformats.org/drawingml/2006/main">
              <a:ext uri="{FF2B5EF4-FFF2-40B4-BE49-F238E27FC236}">
                <a16:creationId xmlns:a16="http://schemas.microsoft.com/office/drawing/2014/main" id="{D0D7E45E-55A3-4F0F-92E9-47572A69B71B}"/>
              </a:ext>
            </a:extLst>
          </p:cNvPr>
          <p:cNvSpPr>
            <a:spLocks xmlns:a="http://schemas.openxmlformats.org/drawingml/2006/main" noGrp="1"/>
          </p:cNvSpPr>
          <p:nvPr/>
        </p:nvSpPr>
        <p:spPr>
          <a:xfrm xmlns:a="http://schemas.openxmlformats.org/drawingml/2006/main">
            <a:off x="685800" y="6010275"/>
            <a:ext cx="10572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516979"/>
                </a:solidFill>
                <a:latin typeface="DejaVu Sans"/>
                <a:ea typeface="DejaVu Sans"/>
                <a:cs typeface="DejaVu Sans"/>
              </a:defRPr>
            </a:defPPr>
            <a:lvl1pPr algn="l">
              <a:defRPr sz="1275" b="0">
                <a:solidFill>
                  <a:srgbClr val="516979"/>
                </a:solidFill>
                <a:latin typeface="DejaVu Sans"/>
                <a:ea typeface="DejaVu Sans"/>
                <a:cs typeface="DejaVu Sans"/>
              </a:defRPr>
            </a:lvl1pPr>
            <a:lvl2pPr algn="l">
              <a:defRPr sz="1275" b="0">
                <a:solidFill>
                  <a:srgbClr val="516979"/>
                </a:solidFill>
                <a:latin typeface="DejaVu Sans"/>
                <a:ea typeface="DejaVu Sans"/>
                <a:cs typeface="DejaVu Sans"/>
              </a:defRPr>
            </a:lvl2pPr>
            <a:lvl3pPr algn="l">
              <a:defRPr sz="1275" b="0">
                <a:solidFill>
                  <a:srgbClr val="516979"/>
                </a:solidFill>
                <a:latin typeface="DejaVu Sans"/>
                <a:ea typeface="DejaVu Sans"/>
                <a:cs typeface="DejaVu Sans"/>
              </a:defRPr>
            </a:lvl3pPr>
            <a:lvl4pPr algn="l">
              <a:defRPr sz="1275" b="0">
                <a:solidFill>
                  <a:srgbClr val="516979"/>
                </a:solidFill>
                <a:latin typeface="DejaVu Sans"/>
                <a:ea typeface="DejaVu Sans"/>
                <a:cs typeface="DejaVu Sans"/>
              </a:defRPr>
            </a:lvl4pPr>
            <a:lvl5pPr algn="l">
              <a:defRPr sz="1275" b="0">
                <a:solidFill>
                  <a:srgbClr val="516979"/>
                </a:solidFill>
                <a:latin typeface="DejaVu Sans"/>
                <a:ea typeface="DejaVu Sans"/>
                <a:cs typeface="DejaVu Sans"/>
              </a:defRPr>
            </a:lvl5pPr>
            <a:lvl6pPr algn="l">
              <a:defRPr sz="1275" b="0">
                <a:solidFill>
                  <a:srgbClr val="516979"/>
                </a:solidFill>
                <a:latin typeface="DejaVu Sans"/>
                <a:ea typeface="DejaVu Sans"/>
                <a:cs typeface="DejaVu Sans"/>
              </a:defRPr>
            </a:lvl6pPr>
            <a:lvl7pPr algn="l">
              <a:defRPr sz="1275" b="0">
                <a:solidFill>
                  <a:srgbClr val="516979"/>
                </a:solidFill>
                <a:latin typeface="DejaVu Sans"/>
                <a:ea typeface="DejaVu Sans"/>
                <a:cs typeface="DejaVu Sans"/>
              </a:defRPr>
            </a:lvl7pPr>
            <a:lvl8pPr algn="l">
              <a:defRPr sz="1275" b="0">
                <a:solidFill>
                  <a:srgbClr val="516979"/>
                </a:solidFill>
                <a:latin typeface="DejaVu Sans"/>
                <a:ea typeface="DejaVu Sans"/>
                <a:cs typeface="DejaVu Sans"/>
              </a:defRPr>
            </a:lvl8pPr>
            <a:lvl9pPr algn="l">
              <a:defRPr sz="1275" b="0">
                <a:solidFill>
                  <a:srgbClr val="516979"/>
                </a:solidFill>
                <a:latin typeface="DejaVu Sans"/>
                <a:ea typeface="DejaVu Sans"/>
                <a:cs typeface="DejaVu Sans"/>
              </a:defRPr>
            </a:lvl9pPr>
          </a:lstStyle>
          <a:p xmlns:a="http://schemas.openxmlformats.org/drawingml/2006/main">
            <a:pPr algn="l">
              <a:defRPr sz="1275" b="0">
                <a:solidFill>
                  <a:srgbClr val="516979"/>
                </a:solidFill>
                <a:latin typeface="DejaVu Sans"/>
                <a:ea typeface="DejaVu Sans"/>
                <a:cs typeface="DejaVu Sans"/>
              </a:defRPr>
            </a:pPr>
            <a:r>
              <a:rPr sz="1275" b="0">
                <a:solidFill>
                  <a:srgbClr val="516979"/>
                </a:solidFill>
                <a:latin typeface="DejaVu Sans"/>
                <a:ea typeface="DejaVu Sans"/>
                <a:cs typeface="DejaVu Sans"/>
              </a:rPr>
              <a:t>Base Sepolia only pays for API access with test aUSD. Cardano verifies the signed response itself.</a:t>
            </a:r>
          </a:p>
        </p:txBody>
      </p:sp>
    </p:spTree>
    <p:extLst>
      <p:ext uri="{BB962C8B-B14F-4D97-AF65-F5344CB8AC3E}">
        <p14:creationId xmlns:p14="http://schemas.microsoft.com/office/powerpoint/2010/main" val="1017132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2026-10-31T00:47:28.7030000Z</dcterms:created>
  <dcterms:modified xsi:type="dcterms:W3CDTF">2026-10-31T00:47:28.7030000Z</dcterms:modified>
</coreProperties>
</file>